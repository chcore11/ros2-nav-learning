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65" r:id="rId4"/>
  </p:sldMasterIdLst>
  <p:notesMasterIdLst>
    <p:notesMasterId r:id="rId6"/>
  </p:notesMasterIdLst>
  <p:sldIdLst>
    <p:sldId id="257" r:id="rId5"/>
    <p:sldId id="258" r:id="rId7"/>
    <p:sldId id="259" r:id="rId8"/>
    <p:sldId id="260" r:id="rId9"/>
    <p:sldId id="281" r:id="rId10"/>
    <p:sldId id="262" r:id="rId11"/>
    <p:sldId id="282" r:id="rId12"/>
    <p:sldId id="276" r:id="rId13"/>
    <p:sldId id="283" r:id="rId14"/>
    <p:sldId id="275" r:id="rId15"/>
    <p:sldId id="286" r:id="rId16"/>
    <p:sldId id="277" r:id="rId17"/>
    <p:sldId id="287" r:id="rId18"/>
    <p:sldId id="265" r:id="rId19"/>
    <p:sldId id="261" r:id="rId20"/>
    <p:sldId id="263" r:id="rId21"/>
    <p:sldId id="264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84" r:id="rId32"/>
    <p:sldId id="285" r:id="rId33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91E21"/>
    <a:srgbClr val="01091E"/>
    <a:srgbClr val="154A4B"/>
    <a:srgbClr val="D9D9D9"/>
    <a:srgbClr val="538B88"/>
    <a:srgbClr val="124142"/>
    <a:srgbClr val="154C4E"/>
    <a:srgbClr val="0B374D"/>
    <a:srgbClr val="012C47"/>
    <a:srgbClr val="00C2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71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7" Type="http://schemas.openxmlformats.org/officeDocument/2006/relationships/tags" Target="tags/tag57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5EA3C-7D75-4277-8ED2-54AF1BB0E3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https://www.ypppt.com/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9B6A21-F317-4685-8E61-539FBE8D7F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/>
              <a:t>模板来自于 优品</a:t>
            </a:r>
            <a:r>
              <a:rPr lang="en-US" altLang="zh-CN" dirty="0" smtClean="0"/>
              <a:t>PPT</a:t>
            </a:r>
            <a:r>
              <a:rPr lang="zh-CN" altLang="en-US" dirty="0" smtClean="0"/>
              <a:t> </a:t>
            </a:r>
            <a:r>
              <a:rPr lang="en-US" altLang="zh-CN" smtClean="0"/>
              <a:t>https://www.ypppt.com/</a:t>
            </a:r>
            <a:endParaRPr lang="zh-CN" altLang="en-US" dirty="0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mtClean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20732" y="6741121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E3945-4D11-476C-AF5D-B8438CAD82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B956B-3D7E-4487-B983-6C6C77D6B7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emf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4.emf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image" Target="../media/image9.emf"/><Relationship Id="rId20" Type="http://schemas.openxmlformats.org/officeDocument/2006/relationships/tags" Target="../tags/tag15.xml"/><Relationship Id="rId2" Type="http://schemas.openxmlformats.org/officeDocument/2006/relationships/tags" Target="../tags/tag2.xml"/><Relationship Id="rId19" Type="http://schemas.openxmlformats.org/officeDocument/2006/relationships/tags" Target="../tags/tag14.xml"/><Relationship Id="rId18" Type="http://schemas.openxmlformats.org/officeDocument/2006/relationships/image" Target="../media/image8.emf"/><Relationship Id="rId17" Type="http://schemas.openxmlformats.org/officeDocument/2006/relationships/image" Target="../media/image7.emf"/><Relationship Id="rId16" Type="http://schemas.openxmlformats.org/officeDocument/2006/relationships/tags" Target="../tags/tag13.xml"/><Relationship Id="rId15" Type="http://schemas.openxmlformats.org/officeDocument/2006/relationships/image" Target="../media/image6.emf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9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20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2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2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2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2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image" Target="../media/image17.emf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image" Target="../media/image18.emf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40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41.xml"/><Relationship Id="rId2" Type="http://schemas.openxmlformats.org/officeDocument/2006/relationships/image" Target="../media/image19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4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43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8.xml"/><Relationship Id="rId7" Type="http://schemas.openxmlformats.org/officeDocument/2006/relationships/tags" Target="../tags/tag44.xml"/><Relationship Id="rId6" Type="http://schemas.openxmlformats.org/officeDocument/2006/relationships/image" Target="../media/image27.emf"/><Relationship Id="rId5" Type="http://schemas.openxmlformats.org/officeDocument/2006/relationships/image" Target="../media/image18.emf"/><Relationship Id="rId4" Type="http://schemas.openxmlformats.org/officeDocument/2006/relationships/image" Target="../media/image26.emf"/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45.xml"/><Relationship Id="rId2" Type="http://schemas.openxmlformats.org/officeDocument/2006/relationships/image" Target="../media/image28.jpe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46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47.xml"/><Relationship Id="rId4" Type="http://schemas.openxmlformats.org/officeDocument/2006/relationships/image" Target="../media/image33.emf"/><Relationship Id="rId3" Type="http://schemas.openxmlformats.org/officeDocument/2006/relationships/image" Target="../media/image8.emf"/><Relationship Id="rId2" Type="http://schemas.openxmlformats.org/officeDocument/2006/relationships/image" Target="../media/image32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48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49.xml"/><Relationship Id="rId3" Type="http://schemas.openxmlformats.org/officeDocument/2006/relationships/image" Target="../media/image6.emf"/><Relationship Id="rId2" Type="http://schemas.openxmlformats.org/officeDocument/2006/relationships/image" Target="../media/image37.emf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50.xml"/><Relationship Id="rId2" Type="http://schemas.openxmlformats.org/officeDocument/2006/relationships/image" Target="../media/image38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51.xml"/><Relationship Id="rId4" Type="http://schemas.openxmlformats.org/officeDocument/2006/relationships/image" Target="../media/image18.emf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5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53.xml"/><Relationship Id="rId2" Type="http://schemas.openxmlformats.org/officeDocument/2006/relationships/image" Target="../media/image45.png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54.xml"/><Relationship Id="rId4" Type="http://schemas.openxmlformats.org/officeDocument/2006/relationships/image" Target="../media/image47.emf"/><Relationship Id="rId3" Type="http://schemas.openxmlformats.org/officeDocument/2006/relationships/image" Target="../media/image46.emf"/><Relationship Id="rId2" Type="http://schemas.openxmlformats.org/officeDocument/2006/relationships/image" Target="../media/image26.emf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55.xml"/><Relationship Id="rId2" Type="http://schemas.openxmlformats.org/officeDocument/2006/relationships/image" Target="../media/image48.png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56.xml"/><Relationship Id="rId4" Type="http://schemas.openxmlformats.org/officeDocument/2006/relationships/image" Target="../media/image51.png"/><Relationship Id="rId3" Type="http://schemas.openxmlformats.org/officeDocument/2006/relationships/image" Target="../media/image2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ypppt.com/kejian/" TargetMode="External"/><Relationship Id="rId8" Type="http://schemas.openxmlformats.org/officeDocument/2006/relationships/hyperlink" Target="http://www.ypppt.com/gushi/" TargetMode="External"/><Relationship Id="rId7" Type="http://schemas.openxmlformats.org/officeDocument/2006/relationships/hyperlink" Target="http://www.ypppt.com/ziti/" TargetMode="External"/><Relationship Id="rId6" Type="http://schemas.openxmlformats.org/officeDocument/2006/relationships/hyperlink" Target="https://www.ypppt.com/jiaocheng/" TargetMode="External"/><Relationship Id="rId5" Type="http://schemas.openxmlformats.org/officeDocument/2006/relationships/hyperlink" Target="http://www.ypppt.com/sucai/" TargetMode="External"/><Relationship Id="rId4" Type="http://schemas.openxmlformats.org/officeDocument/2006/relationships/hyperlink" Target="https://www.ypppt.com/tubiao/" TargetMode="External"/><Relationship Id="rId3" Type="http://schemas.openxmlformats.org/officeDocument/2006/relationships/hyperlink" Target="https://www.ypppt.com/beijing/" TargetMode="External"/><Relationship Id="rId2" Type="http://schemas.openxmlformats.org/officeDocument/2006/relationships/hyperlink" Target="https://www.ypppt.com/jieri/" TargetMode="External"/><Relationship Id="rId11" Type="http://schemas.openxmlformats.org/officeDocument/2006/relationships/notesSlide" Target="../notesSlides/notesSlide28.xml"/><Relationship Id="rId10" Type="http://schemas.openxmlformats.org/officeDocument/2006/relationships/slideLayout" Target="../slideLayouts/slideLayout22.xml"/><Relationship Id="rId1" Type="http://schemas.openxmlformats.org/officeDocument/2006/relationships/hyperlink" Target="https://www.ypppt.com/moba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文本框 6"/>
          <p:cNvSpPr txBox="1"/>
          <p:nvPr/>
        </p:nvSpPr>
        <p:spPr>
          <a:xfrm>
            <a:off x="9331667" y="2864009"/>
            <a:ext cx="1325880" cy="14452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zh-CN" altLang="en-US" sz="8800" dirty="0">
              <a:solidFill>
                <a:srgbClr val="00C2B9"/>
              </a:solidFill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24856" y="5547290"/>
            <a:ext cx="1745041" cy="395605"/>
            <a:chOff x="7216077" y="5678542"/>
            <a:chExt cx="1745041" cy="395605"/>
          </a:xfrm>
        </p:grpSpPr>
        <p:sp>
          <p:nvSpPr>
            <p:cNvPr id="10" name="矩形: 圆角 9"/>
            <p:cNvSpPr/>
            <p:nvPr/>
          </p:nvSpPr>
          <p:spPr>
            <a:xfrm>
              <a:off x="7216077" y="5679177"/>
              <a:ext cx="1745041" cy="376511"/>
            </a:xfrm>
            <a:prstGeom prst="round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336092" y="5678542"/>
              <a:ext cx="1561465" cy="3956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常浩然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512481" y="5549022"/>
            <a:ext cx="1962211" cy="394749"/>
            <a:chOff x="7107492" y="5679177"/>
            <a:chExt cx="1962211" cy="394749"/>
          </a:xfrm>
        </p:grpSpPr>
        <p:sp>
          <p:nvSpPr>
            <p:cNvPr id="14" name="矩形: 圆角 13"/>
            <p:cNvSpPr/>
            <p:nvPr/>
          </p:nvSpPr>
          <p:spPr>
            <a:xfrm>
              <a:off x="7216077" y="5679177"/>
              <a:ext cx="1745041" cy="376511"/>
            </a:xfrm>
            <a:prstGeom prst="round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107492" y="5705626"/>
              <a:ext cx="1962211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2026</a:t>
              </a:r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年</a:t>
              </a:r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3</a:t>
              </a:r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月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0657547" y="163600"/>
            <a:ext cx="120425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2026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 useBgFill="1">
        <p:nvSpPr>
          <p:cNvPr id="8" name="文本框 7"/>
          <p:cNvSpPr txBox="1"/>
          <p:nvPr/>
        </p:nvSpPr>
        <p:spPr>
          <a:xfrm>
            <a:off x="3108960" y="1764030"/>
            <a:ext cx="9502775" cy="13220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chemeClr val="bg1"/>
                </a:solidFill>
                <a:cs typeface="+mn-ea"/>
                <a:sym typeface="+mn-lt"/>
              </a:rPr>
              <a:t>ros-nav-learnig</a:t>
            </a:r>
            <a:endParaRPr lang="en-US" altLang="zh-CN" sz="8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1569700" y="494832"/>
            <a:ext cx="1778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93793" y="82190"/>
            <a:ext cx="6879771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973671" y="811128"/>
            <a:ext cx="2540000" cy="1015663"/>
            <a:chOff x="986972" y="740060"/>
            <a:chExt cx="2540000" cy="1015663"/>
          </a:xfrm>
        </p:grpSpPr>
        <p:sp>
          <p:nvSpPr>
            <p:cNvPr id="8" name="文本框 7"/>
            <p:cNvSpPr txBox="1"/>
            <p:nvPr/>
          </p:nvSpPr>
          <p:spPr>
            <a:xfrm>
              <a:off x="1023258" y="740060"/>
              <a:ext cx="24674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rgbClr val="00C2B9"/>
                  </a:solidFill>
                  <a:cs typeface="+mn-ea"/>
                  <a:sym typeface="+mn-lt"/>
                </a:rPr>
                <a:t>目  录</a:t>
              </a:r>
              <a:endParaRPr lang="zh-CN" altLang="en-US" sz="6000" dirty="0">
                <a:solidFill>
                  <a:srgbClr val="00C2B9"/>
                </a:solidFill>
                <a:cs typeface="+mn-ea"/>
                <a:sym typeface="+mn-lt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986972" y="747148"/>
              <a:ext cx="2540000" cy="1001486"/>
            </a:xfrm>
            <a:prstGeom prst="roundRect">
              <a:avLst>
                <a:gd name="adj" fmla="val 23913"/>
              </a:avLst>
            </a:prstGeom>
            <a:noFill/>
            <a:ln w="22225">
              <a:solidFill>
                <a:srgbClr val="00C2B9"/>
              </a:solidFill>
            </a:ln>
            <a:effectLst>
              <a:outerShdw blurRad="38100" sx="102000" sy="102000" algn="ctr" rotWithShape="0">
                <a:schemeClr val="bg1">
                  <a:alpha val="3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1388543" y="2275768"/>
            <a:ext cx="592657" cy="583803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209136" y="2175392"/>
            <a:ext cx="37958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这个项目是干什么的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5"/>
            </p:custDataLst>
          </p:nvPr>
        </p:nvCxnSpPr>
        <p:spPr>
          <a:xfrm>
            <a:off x="2183736" y="2215226"/>
            <a:ext cx="0" cy="730539"/>
          </a:xfrm>
          <a:prstGeom prst="line">
            <a:avLst/>
          </a:prstGeom>
          <a:ln w="15875">
            <a:solidFill>
              <a:schemeClr val="bg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7441536" y="2175392"/>
            <a:ext cx="37958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系统是怎么跑起来的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7"/>
            </p:custDataLst>
          </p:nvPr>
        </p:nvCxnSpPr>
        <p:spPr>
          <a:xfrm>
            <a:off x="7416136" y="2215226"/>
            <a:ext cx="0" cy="730539"/>
          </a:xfrm>
          <a:prstGeom prst="line">
            <a:avLst/>
          </a:prstGeom>
          <a:ln w="15875">
            <a:solidFill>
              <a:schemeClr val="bg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email"/>
          <a:stretch>
            <a:fillRect/>
          </a:stretch>
        </p:blipFill>
        <p:spPr>
          <a:xfrm>
            <a:off x="6614090" y="2322052"/>
            <a:ext cx="592656" cy="516886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0"/>
            </p:custDataLst>
          </p:nvPr>
        </p:nvSpPr>
        <p:spPr>
          <a:xfrm>
            <a:off x="2209136" y="3727505"/>
            <a:ext cx="37958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各个模块的作用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1"/>
            </p:custDataLst>
          </p:nvPr>
        </p:nvCxnSpPr>
        <p:spPr>
          <a:xfrm>
            <a:off x="2183736" y="3767339"/>
            <a:ext cx="0" cy="730539"/>
          </a:xfrm>
          <a:prstGeom prst="line">
            <a:avLst/>
          </a:prstGeom>
          <a:ln w="15875">
            <a:solidFill>
              <a:schemeClr val="bg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7441536" y="3727505"/>
            <a:ext cx="37958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cs typeface="+mn-ea"/>
                <a:sym typeface="+mn-lt"/>
              </a:rPr>
              <a:t>Planner vs Controller</a:t>
            </a:r>
            <a:endParaRPr lang="en-US" altLang="zh-CN" sz="2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13"/>
            </p:custDataLst>
          </p:nvPr>
        </p:nvCxnSpPr>
        <p:spPr>
          <a:xfrm>
            <a:off x="7416136" y="3767339"/>
            <a:ext cx="0" cy="730539"/>
          </a:xfrm>
          <a:prstGeom prst="line">
            <a:avLst/>
          </a:prstGeom>
          <a:ln w="15875">
            <a:solidFill>
              <a:schemeClr val="bg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/>
          <a:stretch>
            <a:fillRect/>
          </a:stretch>
        </p:blipFill>
        <p:spPr>
          <a:xfrm>
            <a:off x="1505525" y="3876711"/>
            <a:ext cx="463685" cy="511794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email"/>
          <a:stretch>
            <a:fillRect/>
          </a:stretch>
        </p:blipFill>
        <p:spPr>
          <a:xfrm>
            <a:off x="6690752" y="3871434"/>
            <a:ext cx="515994" cy="528752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3549650" y="1370965"/>
            <a:ext cx="22479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CONTENTES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8" cstate="email"/>
          <a:stretch>
            <a:fillRect/>
          </a:stretch>
        </p:blipFill>
        <p:spPr>
          <a:xfrm>
            <a:off x="1388745" y="5152390"/>
            <a:ext cx="608330" cy="519430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19"/>
            </p:custDataLst>
          </p:nvPr>
        </p:nvCxnSpPr>
        <p:spPr>
          <a:xfrm>
            <a:off x="2183736" y="5046864"/>
            <a:ext cx="0" cy="730539"/>
          </a:xfrm>
          <a:prstGeom prst="line">
            <a:avLst/>
          </a:prstGeom>
          <a:ln w="15875">
            <a:solidFill>
              <a:schemeClr val="bg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0"/>
            </p:custDataLst>
          </p:nvPr>
        </p:nvSpPr>
        <p:spPr>
          <a:xfrm>
            <a:off x="2209136" y="5152445"/>
            <a:ext cx="37958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cs typeface="+mn-ea"/>
                <a:sym typeface="+mn-lt"/>
              </a:rPr>
              <a:t>tf-tree</a:t>
            </a:r>
            <a:endParaRPr lang="en-US" altLang="zh-CN" sz="2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1" cstate="email"/>
          <a:stretch>
            <a:fillRect/>
          </a:stretch>
        </p:blipFill>
        <p:spPr>
          <a:xfrm>
            <a:off x="6613878" y="5123905"/>
            <a:ext cx="689008" cy="627469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22"/>
            </p:custDataLst>
          </p:nvPr>
        </p:nvSpPr>
        <p:spPr>
          <a:xfrm>
            <a:off x="7441536" y="5152445"/>
            <a:ext cx="37958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我的工作与进展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7" name="直接连接符 6"/>
          <p:cNvCxnSpPr/>
          <p:nvPr>
            <p:custDataLst>
              <p:tags r:id="rId23"/>
            </p:custDataLst>
          </p:nvPr>
        </p:nvCxnSpPr>
        <p:spPr>
          <a:xfrm>
            <a:off x="7416136" y="5192279"/>
            <a:ext cx="0" cy="730539"/>
          </a:xfrm>
          <a:prstGeom prst="line">
            <a:avLst/>
          </a:prstGeom>
          <a:ln w="15875">
            <a:solidFill>
              <a:schemeClr val="bg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5" grpId="0"/>
      <p:bldP spid="28" grpId="0"/>
      <p:bldP spid="34" grpId="0"/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290284" y="7551058"/>
            <a:ext cx="12192000" cy="68580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2343066" y="3428997"/>
            <a:ext cx="765818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dashDot"/>
          </a:ln>
          <a:effectLst>
            <a:outerShdw blurRad="76200" sx="103000" sy="103000" algn="ctr" rotWithShape="0">
              <a:schemeClr val="bg1">
                <a:alpha val="36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328562" y="612600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00C2B9"/>
                </a:solidFill>
                <a:cs typeface="+mn-ea"/>
                <a:sym typeface="+mn-lt"/>
              </a:rPr>
              <a:t>N </a:t>
            </a:r>
            <a:endParaRPr lang="zh-CN" altLang="en-US" sz="13800" dirty="0">
              <a:solidFill>
                <a:srgbClr val="00C2B9"/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18187" y="3983741"/>
            <a:ext cx="16344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>
                <a:solidFill>
                  <a:srgbClr val="00C2B9"/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lang="zh-CN" altLang="en-US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218970" y="899649"/>
            <a:ext cx="3990748" cy="5058696"/>
            <a:chOff x="4084407" y="899652"/>
            <a:chExt cx="3990748" cy="505869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email"/>
            <a:srcRect/>
            <a:stretch>
              <a:fillRect/>
            </a:stretch>
          </p:blipFill>
          <p:spPr>
            <a:xfrm>
              <a:off x="4084407" y="899652"/>
              <a:ext cx="3990748" cy="5058696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29" name="矩形 28"/>
            <p:cNvSpPr/>
            <p:nvPr/>
          </p:nvSpPr>
          <p:spPr>
            <a:xfrm>
              <a:off x="4084407" y="899652"/>
              <a:ext cx="3990748" cy="5058691"/>
            </a:xfrm>
            <a:prstGeom prst="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652794" y="1528136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1"/>
                </a:solidFill>
                <a:cs typeface="+mn-ea"/>
                <a:sym typeface="+mn-lt"/>
              </a:rPr>
              <a:t>O</a:t>
            </a:r>
            <a:endParaRPr lang="zh-CN" altLang="en-US" sz="13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43569" y="3762646"/>
            <a:ext cx="16344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500">
                <a:solidFill>
                  <a:srgbClr val="00C2B9"/>
                </a:solidFill>
                <a:latin typeface="字魂36号-正文宋楷" panose="00000500000000000000" pitchFamily="2" charset="-122"/>
                <a:ea typeface="字魂36号-正文宋楷" panose="00000500000000000000" pitchFamily="2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633536" y="2000035"/>
            <a:ext cx="4787410" cy="946183"/>
            <a:chOff x="7594243" y="2110563"/>
            <a:chExt cx="3561056" cy="946183"/>
          </a:xfrm>
        </p:grpSpPr>
        <p:sp>
          <p:nvSpPr>
            <p:cNvPr id="31" name="矩形 30"/>
            <p:cNvSpPr/>
            <p:nvPr/>
          </p:nvSpPr>
          <p:spPr>
            <a:xfrm>
              <a:off x="7594243" y="2148810"/>
              <a:ext cx="3531870" cy="907936"/>
            </a:xfrm>
            <a:prstGeom prst="rect">
              <a:avLst/>
            </a:prstGeom>
            <a:solidFill>
              <a:schemeClr val="bg1">
                <a:lumMod val="75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623429" y="2110563"/>
              <a:ext cx="3531870" cy="922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5400" dirty="0">
                  <a:solidFill>
                    <a:schemeClr val="bg1"/>
                  </a:solidFill>
                  <a:cs typeface="+mn-ea"/>
                  <a:sym typeface="+mn-lt"/>
                </a:rPr>
                <a:t>整个项目</a:t>
              </a:r>
              <a:endParaRPr lang="zh-CN" altLang="en-US" sz="5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015883" y="6320901"/>
            <a:ext cx="1827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rgbClr val="091E21"/>
                </a:solidFill>
              </a:rPr>
              <a:t>https://www.ypppt.com/</a:t>
            </a:r>
            <a:endParaRPr lang="zh-CN" altLang="en-US" sz="1050" dirty="0">
              <a:solidFill>
                <a:srgbClr val="091E21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5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44740" y="257175"/>
            <a:ext cx="7494588" cy="1848485"/>
            <a:chOff x="3449865" y="609600"/>
            <a:chExt cx="7494588" cy="1848485"/>
          </a:xfrm>
        </p:grpSpPr>
        <p:sp>
          <p:nvSpPr>
            <p:cNvPr id="6" name="矩形 5"/>
            <p:cNvSpPr/>
            <p:nvPr/>
          </p:nvSpPr>
          <p:spPr>
            <a:xfrm>
              <a:off x="3618775" y="609600"/>
              <a:ext cx="6315710" cy="1848485"/>
            </a:xfrm>
            <a:prstGeom prst="rect">
              <a:avLst/>
            </a:prstGeom>
            <a:solidFill>
              <a:srgbClr val="1241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449865" y="760095"/>
              <a:ext cx="397700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这个项目是干什么的？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00250" y="1370046"/>
              <a:ext cx="7144203" cy="1060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在仿真环境中实现机器人自主导航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indent="457200">
                <a:lnSpc>
                  <a:spcPct val="150000"/>
                </a:lnSpc>
              </a:pP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indent="457200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建图（</a:t>
              </a:r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SLAM</a:t>
              </a: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）</a:t>
              </a:r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r>
                <a:rPr lang="en-US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→</a:t>
              </a:r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定位（</a:t>
              </a:r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AMCL</a:t>
              </a: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）</a:t>
              </a:r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r>
                <a:rPr lang="en-US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→</a:t>
              </a:r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导航（</a:t>
              </a:r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Nav2</a:t>
              </a: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）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4" name="图片 3" descr="Screenshot 2026-03-21 1540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665" y="2204085"/>
            <a:ext cx="8268335" cy="46539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290284" y="7551058"/>
            <a:ext cx="12192000" cy="68580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2343066" y="3428997"/>
            <a:ext cx="765818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dashDot"/>
          </a:ln>
          <a:effectLst>
            <a:outerShdw blurRad="76200" sx="103000" sy="103000" algn="ctr" rotWithShape="0">
              <a:schemeClr val="bg1">
                <a:alpha val="36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328562" y="612600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00C2B9"/>
                </a:solidFill>
                <a:cs typeface="+mn-ea"/>
                <a:sym typeface="+mn-lt"/>
              </a:rPr>
              <a:t>N </a:t>
            </a:r>
            <a:endParaRPr lang="zh-CN" altLang="en-US" sz="13800" dirty="0">
              <a:solidFill>
                <a:srgbClr val="00C2B9"/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60373" y="3968567"/>
            <a:ext cx="16344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>
                <a:solidFill>
                  <a:srgbClr val="00C2B9"/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endParaRPr lang="zh-CN" altLang="en-US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218970" y="899649"/>
            <a:ext cx="3990748" cy="5058696"/>
            <a:chOff x="4084407" y="899652"/>
            <a:chExt cx="3990748" cy="505869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email"/>
            <a:srcRect/>
            <a:stretch>
              <a:fillRect/>
            </a:stretch>
          </p:blipFill>
          <p:spPr>
            <a:xfrm>
              <a:off x="4084407" y="899652"/>
              <a:ext cx="3990748" cy="5058696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29" name="矩形 28"/>
            <p:cNvSpPr/>
            <p:nvPr/>
          </p:nvSpPr>
          <p:spPr>
            <a:xfrm>
              <a:off x="4084407" y="899652"/>
              <a:ext cx="3990748" cy="5058691"/>
            </a:xfrm>
            <a:prstGeom prst="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652794" y="1528136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1"/>
                </a:solidFill>
                <a:cs typeface="+mn-ea"/>
                <a:sym typeface="+mn-lt"/>
              </a:rPr>
              <a:t>O</a:t>
            </a:r>
            <a:endParaRPr lang="zh-CN" altLang="en-US" sz="13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43569" y="3762646"/>
            <a:ext cx="16344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500">
                <a:solidFill>
                  <a:srgbClr val="00C2B9"/>
                </a:solidFill>
                <a:latin typeface="字魂36号-正文宋楷" panose="00000500000000000000" pitchFamily="2" charset="-122"/>
                <a:ea typeface="字魂36号-正文宋楷" panose="00000500000000000000" pitchFamily="2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633536" y="2000035"/>
            <a:ext cx="4787410" cy="946183"/>
            <a:chOff x="7594243" y="2110563"/>
            <a:chExt cx="3561056" cy="946183"/>
          </a:xfrm>
        </p:grpSpPr>
        <p:sp>
          <p:nvSpPr>
            <p:cNvPr id="31" name="矩形 30"/>
            <p:cNvSpPr/>
            <p:nvPr/>
          </p:nvSpPr>
          <p:spPr>
            <a:xfrm>
              <a:off x="7594243" y="2148810"/>
              <a:ext cx="3531870" cy="907936"/>
            </a:xfrm>
            <a:prstGeom prst="rect">
              <a:avLst/>
            </a:prstGeom>
            <a:solidFill>
              <a:schemeClr val="bg1">
                <a:lumMod val="75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623429" y="2110563"/>
              <a:ext cx="3531870" cy="922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5400" dirty="0">
                  <a:solidFill>
                    <a:schemeClr val="bg1"/>
                  </a:solidFill>
                  <a:cs typeface="+mn-ea"/>
                  <a:sym typeface="+mn-lt"/>
                </a:rPr>
                <a:t>运行过程</a:t>
              </a:r>
              <a:endParaRPr lang="zh-CN" altLang="en-US" sz="5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5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六边形 2"/>
          <p:cNvSpPr/>
          <p:nvPr/>
        </p:nvSpPr>
        <p:spPr>
          <a:xfrm>
            <a:off x="5174096" y="2634255"/>
            <a:ext cx="1843806" cy="1589488"/>
          </a:xfrm>
          <a:prstGeom prst="hexagon">
            <a:avLst/>
          </a:prstGeom>
          <a:blipFill>
            <a:blip r:embed="rId2" cstate="email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六边形 5"/>
          <p:cNvSpPr/>
          <p:nvPr/>
        </p:nvSpPr>
        <p:spPr>
          <a:xfrm>
            <a:off x="3254245" y="979211"/>
            <a:ext cx="5683510" cy="4899577"/>
          </a:xfrm>
          <a:prstGeom prst="hexagon">
            <a:avLst/>
          </a:prstGeom>
          <a:noFill/>
          <a:ln w="9525">
            <a:solidFill>
              <a:schemeClr val="bg1"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六边形 6"/>
          <p:cNvSpPr/>
          <p:nvPr/>
        </p:nvSpPr>
        <p:spPr>
          <a:xfrm>
            <a:off x="4070610" y="1682973"/>
            <a:ext cx="4050779" cy="3492051"/>
          </a:xfrm>
          <a:prstGeom prst="hexagon">
            <a:avLst/>
          </a:prstGeom>
          <a:noFill/>
          <a:ln w="9525">
            <a:solidFill>
              <a:schemeClr val="bg1">
                <a:alpha val="3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六边形 9"/>
          <p:cNvSpPr/>
          <p:nvPr/>
        </p:nvSpPr>
        <p:spPr>
          <a:xfrm>
            <a:off x="4803612" y="2314873"/>
            <a:ext cx="2584775" cy="2228254"/>
          </a:xfrm>
          <a:prstGeom prst="hexagon">
            <a:avLst/>
          </a:prstGeom>
          <a:noFill/>
          <a:ln w="9525"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041241" y="1982613"/>
            <a:ext cx="1154162" cy="39640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0220723" y="1169659"/>
            <a:ext cx="755374" cy="651184"/>
            <a:chOff x="10220723" y="1169659"/>
            <a:chExt cx="755374" cy="651184"/>
          </a:xfrm>
        </p:grpSpPr>
        <p:sp>
          <p:nvSpPr>
            <p:cNvPr id="14" name="六边形 13"/>
            <p:cNvSpPr/>
            <p:nvPr/>
          </p:nvSpPr>
          <p:spPr>
            <a:xfrm>
              <a:off x="10220723" y="1169659"/>
              <a:ext cx="755374" cy="651184"/>
            </a:xfrm>
            <a:prstGeom prst="hexagon">
              <a:avLst/>
            </a:prstGeom>
            <a:noFill/>
            <a:ln w="19050"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415774" y="1233641"/>
              <a:ext cx="3652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/>
                  </a:solidFill>
                  <a:cs typeface="+mn-ea"/>
                  <a:sym typeface="+mn-lt"/>
                </a:rPr>
                <a:t>贰</a:t>
              </a:r>
              <a:endParaRPr lang="zh-CN" altLang="en-US" sz="2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 rot="16200000">
            <a:off x="-300990" y="1079500"/>
            <a:ext cx="5633720" cy="396430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启动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Gazebo 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 </a:t>
            </a:r>
            <a:r>
              <a:rPr lang="en-US" altLang="en-US" sz="2400" dirty="0">
                <a:solidFill>
                  <a:schemeClr val="bg1"/>
                </a:solidFill>
                <a:cs typeface="+mn-ea"/>
                <a:sym typeface="+mn-lt"/>
              </a:rPr>
              <a:t>↓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遥控建图（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SLAM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）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 </a:t>
            </a:r>
            <a:r>
              <a:rPr lang="en-US" altLang="en-US" sz="2400" dirty="0">
                <a:solidFill>
                  <a:schemeClr val="bg1"/>
                </a:solidFill>
                <a:cs typeface="+mn-ea"/>
                <a:sym typeface="+mn-lt"/>
              </a:rPr>
              <a:t>↓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保存地图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 </a:t>
            </a:r>
            <a:r>
              <a:rPr lang="en-US" altLang="en-US" sz="2400" dirty="0">
                <a:solidFill>
                  <a:schemeClr val="bg1"/>
                </a:solidFill>
                <a:cs typeface="+mn-ea"/>
                <a:sym typeface="+mn-lt"/>
              </a:rPr>
              <a:t>↓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启动定位（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AMCL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）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 </a:t>
            </a:r>
            <a:r>
              <a:rPr lang="en-US" altLang="en-US" sz="2400" dirty="0">
                <a:solidFill>
                  <a:schemeClr val="bg1"/>
                </a:solidFill>
                <a:cs typeface="+mn-ea"/>
                <a:sym typeface="+mn-lt"/>
              </a:rPr>
              <a:t>↓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RViz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设目标点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 </a:t>
            </a:r>
            <a:r>
              <a:rPr lang="en-US" altLang="en-US" sz="2400" dirty="0">
                <a:solidFill>
                  <a:schemeClr val="bg1"/>
                </a:solidFill>
                <a:cs typeface="+mn-ea"/>
                <a:sym typeface="+mn-lt"/>
              </a:rPr>
              <a:t>↓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自动导航（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Nav2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）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10" grpId="0" animBg="1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290284" y="7551058"/>
            <a:ext cx="12192000" cy="68580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2343066" y="3428997"/>
            <a:ext cx="765818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dashDot"/>
          </a:ln>
          <a:effectLst>
            <a:outerShdw blurRad="76200" sx="103000" sy="103000" algn="ctr" rotWithShape="0">
              <a:schemeClr val="bg1">
                <a:alpha val="36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328562" y="612600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00C2B9"/>
                </a:solidFill>
                <a:cs typeface="+mn-ea"/>
                <a:sym typeface="+mn-lt"/>
              </a:rPr>
              <a:t>N </a:t>
            </a:r>
            <a:endParaRPr lang="zh-CN" altLang="en-US" sz="13800" dirty="0">
              <a:solidFill>
                <a:srgbClr val="00C2B9"/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60373" y="3968567"/>
            <a:ext cx="16344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>
                <a:solidFill>
                  <a:srgbClr val="00C2B9"/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endParaRPr lang="zh-CN" altLang="en-US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218970" y="899649"/>
            <a:ext cx="3990748" cy="5058696"/>
            <a:chOff x="4084407" y="899652"/>
            <a:chExt cx="3990748" cy="505869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email"/>
            <a:srcRect/>
            <a:stretch>
              <a:fillRect/>
            </a:stretch>
          </p:blipFill>
          <p:spPr>
            <a:xfrm>
              <a:off x="4084407" y="899652"/>
              <a:ext cx="3990748" cy="5058696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29" name="矩形 28"/>
            <p:cNvSpPr/>
            <p:nvPr/>
          </p:nvSpPr>
          <p:spPr>
            <a:xfrm>
              <a:off x="4084407" y="899652"/>
              <a:ext cx="3990748" cy="5058691"/>
            </a:xfrm>
            <a:prstGeom prst="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652794" y="1528136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1"/>
                </a:solidFill>
                <a:cs typeface="+mn-ea"/>
                <a:sym typeface="+mn-lt"/>
              </a:rPr>
              <a:t>O</a:t>
            </a:r>
            <a:endParaRPr lang="zh-CN" altLang="en-US" sz="13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43569" y="3762646"/>
            <a:ext cx="16344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500">
                <a:solidFill>
                  <a:srgbClr val="00C2B9"/>
                </a:solidFill>
                <a:latin typeface="字魂36号-正文宋楷" panose="00000500000000000000" pitchFamily="2" charset="-122"/>
                <a:ea typeface="字魂36号-正文宋楷" panose="00000500000000000000" pitchFamily="2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633536" y="2000035"/>
            <a:ext cx="4787410" cy="946183"/>
            <a:chOff x="7594243" y="2110563"/>
            <a:chExt cx="3561056" cy="946183"/>
          </a:xfrm>
        </p:grpSpPr>
        <p:sp>
          <p:nvSpPr>
            <p:cNvPr id="31" name="矩形 30"/>
            <p:cNvSpPr/>
            <p:nvPr/>
          </p:nvSpPr>
          <p:spPr>
            <a:xfrm>
              <a:off x="7594243" y="2148810"/>
              <a:ext cx="3531870" cy="907936"/>
            </a:xfrm>
            <a:prstGeom prst="rect">
              <a:avLst/>
            </a:prstGeom>
            <a:solidFill>
              <a:schemeClr val="bg1">
                <a:lumMod val="75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623429" y="2110563"/>
              <a:ext cx="3531870" cy="922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5400" dirty="0">
                  <a:solidFill>
                    <a:schemeClr val="bg1"/>
                  </a:solidFill>
                  <a:cs typeface="+mn-ea"/>
                  <a:sym typeface="+mn-lt"/>
                </a:rPr>
                <a:t>各个模块</a:t>
              </a:r>
              <a:endParaRPr lang="zh-CN" altLang="en-US" sz="5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5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972945" y="586105"/>
            <a:ext cx="1769110" cy="3738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70000"/>
              </a:lnSpc>
            </a:pPr>
            <a:r>
              <a:rPr lang="en-US" altLang="zh-CN" sz="2800" dirty="0">
                <a:solidFill>
                  <a:schemeClr val="bg1"/>
                </a:solidFill>
                <a:cs typeface="+mn-ea"/>
                <a:sym typeface="+mn-lt"/>
              </a:rPr>
              <a:t>Gazebo</a:t>
            </a:r>
            <a:endParaRPr lang="en-US" altLang="zh-CN" sz="28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270000"/>
              </a:lnSpc>
            </a:pPr>
            <a:r>
              <a:rPr lang="en-US" altLang="zh-CN" sz="2800" dirty="0">
                <a:solidFill>
                  <a:schemeClr val="bg1"/>
                </a:solidFill>
                <a:cs typeface="+mn-ea"/>
                <a:sym typeface="+mn-lt"/>
              </a:rPr>
              <a:t>SLAM</a:t>
            </a:r>
            <a:endParaRPr lang="en-US" altLang="zh-CN" sz="28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270000"/>
              </a:lnSpc>
            </a:pPr>
            <a:r>
              <a:rPr lang="en-US" altLang="zh-CN" sz="2800" dirty="0">
                <a:solidFill>
                  <a:schemeClr val="bg1"/>
                </a:solidFill>
                <a:cs typeface="+mn-ea"/>
                <a:sym typeface="+mn-lt"/>
              </a:rPr>
              <a:t>AMCL</a:t>
            </a:r>
            <a:endParaRPr lang="en-US" altLang="zh-CN" sz="28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270000"/>
              </a:lnSpc>
            </a:pPr>
            <a:r>
              <a:rPr lang="en-US" altLang="zh-CN" sz="2800" dirty="0">
                <a:solidFill>
                  <a:schemeClr val="bg1"/>
                </a:solidFill>
                <a:cs typeface="+mn-ea"/>
                <a:sym typeface="+mn-lt"/>
              </a:rPr>
              <a:t>Nav2</a:t>
            </a:r>
            <a:endParaRPr lang="en-US" altLang="zh-CN" sz="28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270000"/>
              </a:lnSpc>
            </a:pPr>
            <a:r>
              <a:rPr lang="en-US" altLang="zh-CN" sz="2800" dirty="0">
                <a:solidFill>
                  <a:schemeClr val="bg1"/>
                </a:solidFill>
                <a:cs typeface="+mn-ea"/>
                <a:sym typeface="+mn-lt"/>
              </a:rPr>
              <a:t>RViz</a:t>
            </a: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631635" y="331217"/>
            <a:ext cx="2928730" cy="1105949"/>
            <a:chOff x="4631635" y="388327"/>
            <a:chExt cx="2928730" cy="1105949"/>
          </a:xfrm>
        </p:grpSpPr>
        <p:sp>
          <p:nvSpPr>
            <p:cNvPr id="33" name="文本框 32"/>
            <p:cNvSpPr txBox="1"/>
            <p:nvPr/>
          </p:nvSpPr>
          <p:spPr>
            <a:xfrm>
              <a:off x="4631635" y="1033901"/>
              <a:ext cx="292873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726959" y="388327"/>
              <a:ext cx="283337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3600" dirty="0">
                  <a:solidFill>
                    <a:schemeClr val="bg1"/>
                  </a:solidFill>
                  <a:cs typeface="+mn-ea"/>
                  <a:sym typeface="+mn-lt"/>
                </a:rPr>
                <a:t>NODES</a:t>
              </a:r>
              <a:endParaRPr lang="zh-CN" altLang="en-US" sz="3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5" name="文本框 34"/>
          <p:cNvSpPr txBox="1"/>
          <p:nvPr>
            <p:custDataLst>
              <p:tags r:id="rId3"/>
            </p:custDataLst>
          </p:nvPr>
        </p:nvSpPr>
        <p:spPr>
          <a:xfrm>
            <a:off x="8545195" y="586105"/>
            <a:ext cx="2893060" cy="3738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27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仿真环境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27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建图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27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定位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27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导航控制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  <a:p>
            <a:pPr>
              <a:lnSpc>
                <a:spcPct val="27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可视化与交互</a:t>
            </a:r>
            <a:endParaRPr lang="zh-CN" altLang="en-US" sz="28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290284" y="7551058"/>
            <a:ext cx="12192000" cy="68580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2343066" y="3428997"/>
            <a:ext cx="765818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dashDot"/>
          </a:ln>
          <a:effectLst>
            <a:outerShdw blurRad="76200" sx="103000" sy="103000" algn="ctr" rotWithShape="0">
              <a:schemeClr val="bg1">
                <a:alpha val="36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328562" y="612600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00C2B9"/>
                </a:solidFill>
                <a:cs typeface="+mn-ea"/>
                <a:sym typeface="+mn-lt"/>
              </a:rPr>
              <a:t>N </a:t>
            </a:r>
            <a:endParaRPr lang="zh-CN" altLang="en-US" sz="13800" dirty="0">
              <a:solidFill>
                <a:srgbClr val="00C2B9"/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60373" y="3968567"/>
            <a:ext cx="16344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>
                <a:solidFill>
                  <a:srgbClr val="00C2B9"/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endParaRPr lang="zh-CN" altLang="en-US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218970" y="899649"/>
            <a:ext cx="3990748" cy="5058696"/>
            <a:chOff x="4084407" y="899652"/>
            <a:chExt cx="3990748" cy="505869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email"/>
            <a:srcRect/>
            <a:stretch>
              <a:fillRect/>
            </a:stretch>
          </p:blipFill>
          <p:spPr>
            <a:xfrm>
              <a:off x="4084407" y="899652"/>
              <a:ext cx="3990748" cy="5058696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29" name="矩形 28"/>
            <p:cNvSpPr/>
            <p:nvPr/>
          </p:nvSpPr>
          <p:spPr>
            <a:xfrm>
              <a:off x="4084407" y="899652"/>
              <a:ext cx="3990748" cy="5058691"/>
            </a:xfrm>
            <a:prstGeom prst="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652794" y="1528136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1"/>
                </a:solidFill>
                <a:cs typeface="+mn-ea"/>
                <a:sym typeface="+mn-lt"/>
              </a:rPr>
              <a:t>O</a:t>
            </a:r>
            <a:endParaRPr lang="zh-CN" altLang="en-US" sz="13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43569" y="3762646"/>
            <a:ext cx="16344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500">
                <a:solidFill>
                  <a:srgbClr val="00C2B9"/>
                </a:solidFill>
                <a:latin typeface="字魂36号-正文宋楷" panose="00000500000000000000" pitchFamily="2" charset="-122"/>
                <a:ea typeface="字魂36号-正文宋楷" panose="00000500000000000000" pitchFamily="2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633536" y="2000035"/>
            <a:ext cx="4787410" cy="946183"/>
            <a:chOff x="7594243" y="2110563"/>
            <a:chExt cx="3561056" cy="946183"/>
          </a:xfrm>
        </p:grpSpPr>
        <p:sp>
          <p:nvSpPr>
            <p:cNvPr id="31" name="矩形 30"/>
            <p:cNvSpPr/>
            <p:nvPr/>
          </p:nvSpPr>
          <p:spPr>
            <a:xfrm>
              <a:off x="7594243" y="2148810"/>
              <a:ext cx="3531870" cy="907936"/>
            </a:xfrm>
            <a:prstGeom prst="rect">
              <a:avLst/>
            </a:prstGeom>
            <a:solidFill>
              <a:schemeClr val="bg1">
                <a:lumMod val="75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623429" y="2110563"/>
              <a:ext cx="3531870" cy="922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5400" dirty="0">
                  <a:solidFill>
                    <a:schemeClr val="bg1"/>
                  </a:solidFill>
                  <a:cs typeface="+mn-ea"/>
                  <a:sym typeface="+mn-lt"/>
                </a:rPr>
                <a:t>P   vs   C</a:t>
              </a:r>
              <a:endParaRPr lang="en-US" altLang="zh-CN" sz="5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5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0" y="3422122"/>
            <a:ext cx="12192000" cy="13757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-589525" y="905515"/>
            <a:ext cx="2398249" cy="2398249"/>
            <a:chOff x="-1199125" y="1716666"/>
            <a:chExt cx="2398249" cy="2398249"/>
          </a:xfrm>
        </p:grpSpPr>
        <p:sp>
          <p:nvSpPr>
            <p:cNvPr id="5" name="椭圆 4"/>
            <p:cNvSpPr/>
            <p:nvPr>
              <p:custDataLst>
                <p:tags r:id="rId4"/>
              </p:custDataLst>
            </p:nvPr>
          </p:nvSpPr>
          <p:spPr>
            <a:xfrm>
              <a:off x="-1199125" y="1716666"/>
              <a:ext cx="2398249" cy="2398249"/>
            </a:xfrm>
            <a:prstGeom prst="ellipse">
              <a:avLst/>
            </a:prstGeom>
            <a:solidFill>
              <a:schemeClr val="bg1">
                <a:lumMod val="65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-341633" y="2250164"/>
              <a:ext cx="1369307" cy="1331254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>
            <p:custDataLst>
              <p:tags r:id="rId7"/>
            </p:custDataLst>
          </p:nvPr>
        </p:nvGrpSpPr>
        <p:grpSpPr>
          <a:xfrm>
            <a:off x="10383275" y="3819424"/>
            <a:ext cx="2398249" cy="2398249"/>
            <a:chOff x="10992875" y="4114915"/>
            <a:chExt cx="2398249" cy="2398249"/>
          </a:xfrm>
        </p:grpSpPr>
        <p:sp>
          <p:nvSpPr>
            <p:cNvPr id="6" name="椭圆 5"/>
            <p:cNvSpPr/>
            <p:nvPr>
              <p:custDataLst>
                <p:tags r:id="rId8"/>
              </p:custDataLst>
            </p:nvPr>
          </p:nvSpPr>
          <p:spPr>
            <a:xfrm>
              <a:off x="10992875" y="4114915"/>
              <a:ext cx="2398249" cy="2398249"/>
            </a:xfrm>
            <a:prstGeom prst="ellipse">
              <a:avLst/>
            </a:prstGeom>
            <a:solidFill>
              <a:schemeClr val="bg1">
                <a:lumMod val="65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 flipH="1">
              <a:off x="11190727" y="4648413"/>
              <a:ext cx="1507243" cy="1345010"/>
            </a:xfrm>
            <a:prstGeom prst="rect">
              <a:avLst/>
            </a:prstGeom>
          </p:spPr>
        </p:pic>
      </p:grp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2517085" y="1377787"/>
            <a:ext cx="2928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Controller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2517085" y="2157562"/>
            <a:ext cx="8912915" cy="118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7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规划路径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indent="457200">
              <a:lnSpc>
                <a:spcPct val="17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全局视角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indent="457200">
              <a:lnSpc>
                <a:spcPct val="17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输出路径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6973542" y="4306412"/>
            <a:ext cx="2928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Planner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14"/>
            </p:custDataLst>
          </p:nvPr>
        </p:nvSpPr>
        <p:spPr>
          <a:xfrm>
            <a:off x="8310190" y="5019507"/>
            <a:ext cx="8912915" cy="1189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7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跟随路径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indent="457200">
              <a:lnSpc>
                <a:spcPct val="17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局部控制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indent="457200">
              <a:lnSpc>
                <a:spcPct val="17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输出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cmd_vel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9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290284" y="7551058"/>
            <a:ext cx="12192000" cy="68580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2343066" y="3428997"/>
            <a:ext cx="765818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dashDot"/>
          </a:ln>
          <a:effectLst>
            <a:outerShdw blurRad="76200" sx="103000" sy="103000" algn="ctr" rotWithShape="0">
              <a:schemeClr val="bg1">
                <a:alpha val="36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328562" y="612600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00C2B9"/>
                </a:solidFill>
                <a:cs typeface="+mn-ea"/>
                <a:sym typeface="+mn-lt"/>
              </a:rPr>
              <a:t>N </a:t>
            </a:r>
            <a:endParaRPr lang="zh-CN" altLang="en-US" sz="13800" dirty="0">
              <a:solidFill>
                <a:srgbClr val="00C2B9"/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60373" y="3968567"/>
            <a:ext cx="163449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>
                <a:solidFill>
                  <a:srgbClr val="00C2B9"/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5</a:t>
            </a:r>
            <a:endParaRPr lang="en-US" altLang="zh-CN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218970" y="899649"/>
            <a:ext cx="3990748" cy="5058696"/>
            <a:chOff x="4084407" y="899652"/>
            <a:chExt cx="3990748" cy="505869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email"/>
            <a:srcRect/>
            <a:stretch>
              <a:fillRect/>
            </a:stretch>
          </p:blipFill>
          <p:spPr>
            <a:xfrm>
              <a:off x="4084407" y="899652"/>
              <a:ext cx="3990748" cy="5058696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29" name="矩形 28"/>
            <p:cNvSpPr/>
            <p:nvPr/>
          </p:nvSpPr>
          <p:spPr>
            <a:xfrm>
              <a:off x="4084407" y="899652"/>
              <a:ext cx="3990748" cy="5058691"/>
            </a:xfrm>
            <a:prstGeom prst="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652794" y="1528136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1"/>
                </a:solidFill>
                <a:cs typeface="+mn-ea"/>
                <a:sym typeface="+mn-lt"/>
              </a:rPr>
              <a:t>O</a:t>
            </a:r>
            <a:endParaRPr lang="zh-CN" altLang="en-US" sz="13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43569" y="3762646"/>
            <a:ext cx="16344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500">
                <a:solidFill>
                  <a:srgbClr val="00C2B9"/>
                </a:solidFill>
                <a:latin typeface="字魂36号-正文宋楷" panose="00000500000000000000" pitchFamily="2" charset="-122"/>
                <a:ea typeface="字魂36号-正文宋楷" panose="00000500000000000000" pitchFamily="2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383346" y="2000035"/>
            <a:ext cx="4787265" cy="946183"/>
            <a:chOff x="7594243" y="2110563"/>
            <a:chExt cx="3560948" cy="946183"/>
          </a:xfrm>
        </p:grpSpPr>
        <p:sp>
          <p:nvSpPr>
            <p:cNvPr id="31" name="矩形 30"/>
            <p:cNvSpPr/>
            <p:nvPr/>
          </p:nvSpPr>
          <p:spPr>
            <a:xfrm>
              <a:off x="7594243" y="2148810"/>
              <a:ext cx="3531870" cy="907936"/>
            </a:xfrm>
            <a:prstGeom prst="rect">
              <a:avLst/>
            </a:prstGeom>
            <a:solidFill>
              <a:schemeClr val="bg1">
                <a:lumMod val="75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8105784" y="2110563"/>
              <a:ext cx="3049407" cy="922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5400" dirty="0">
                  <a:solidFill>
                    <a:schemeClr val="bg1"/>
                  </a:solidFill>
                  <a:cs typeface="+mn-ea"/>
                  <a:sym typeface="+mn-lt"/>
                </a:rPr>
                <a:t>tf tree</a:t>
              </a:r>
              <a:endParaRPr lang="en-US" altLang="zh-CN" sz="5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5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tf-tree-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430" cy="54311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22515" y="1452245"/>
            <a:ext cx="4233545" cy="2733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290000"/>
              </a:lnSpc>
            </a:pPr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map</a:t>
            </a: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：全局坐标</a:t>
            </a:r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ct val="290000"/>
              </a:lnSpc>
            </a:pPr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odom</a:t>
            </a: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：短时连续但会漂移</a:t>
            </a:r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>
              <a:lnSpc>
                <a:spcPct val="290000"/>
              </a:lnSpc>
            </a:pPr>
            <a:r>
              <a:rPr lang="en-US" altLang="zh-CN" sz="2400" b="1" dirty="0">
                <a:solidFill>
                  <a:schemeClr val="bg1"/>
                </a:solidFill>
                <a:cs typeface="+mn-ea"/>
                <a:sym typeface="+mn-lt"/>
              </a:rPr>
              <a:t>base_link</a:t>
            </a:r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：机器人本体</a:t>
            </a:r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290284" y="7551058"/>
            <a:ext cx="12192000" cy="68580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2343066" y="3428997"/>
            <a:ext cx="765818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dashDot"/>
          </a:ln>
          <a:effectLst>
            <a:outerShdw blurRad="76200" sx="103000" sy="103000" algn="ctr" rotWithShape="0">
              <a:schemeClr val="bg1">
                <a:alpha val="36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328562" y="612600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rgbClr val="00C2B9"/>
                </a:solidFill>
                <a:cs typeface="+mn-ea"/>
                <a:sym typeface="+mn-lt"/>
              </a:rPr>
              <a:t>N </a:t>
            </a:r>
            <a:endParaRPr lang="zh-CN" altLang="en-US" sz="13800" dirty="0">
              <a:solidFill>
                <a:srgbClr val="00C2B9"/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60373" y="3968567"/>
            <a:ext cx="163449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>
                <a:solidFill>
                  <a:srgbClr val="00C2B9"/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6</a:t>
            </a:r>
            <a:endParaRPr lang="en-US" altLang="zh-CN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4218970" y="899649"/>
            <a:ext cx="3990748" cy="5058696"/>
            <a:chOff x="4084407" y="899652"/>
            <a:chExt cx="3990748" cy="505869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 cstate="email"/>
            <a:srcRect/>
            <a:stretch>
              <a:fillRect/>
            </a:stretch>
          </p:blipFill>
          <p:spPr>
            <a:xfrm>
              <a:off x="4084407" y="899652"/>
              <a:ext cx="3990748" cy="5058696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29" name="矩形 28"/>
            <p:cNvSpPr/>
            <p:nvPr/>
          </p:nvSpPr>
          <p:spPr>
            <a:xfrm>
              <a:off x="4084407" y="899652"/>
              <a:ext cx="3990748" cy="5058691"/>
            </a:xfrm>
            <a:prstGeom prst="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652794" y="1528136"/>
            <a:ext cx="2103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1"/>
                </a:solidFill>
                <a:cs typeface="+mn-ea"/>
                <a:sym typeface="+mn-lt"/>
              </a:rPr>
              <a:t>O</a:t>
            </a:r>
            <a:endParaRPr lang="zh-CN" altLang="en-US" sz="13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43569" y="3762646"/>
            <a:ext cx="163449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1500">
                <a:solidFill>
                  <a:srgbClr val="00C2B9"/>
                </a:solidFill>
                <a:latin typeface="字魂36号-正文宋楷" panose="00000500000000000000" pitchFamily="2" charset="-122"/>
                <a:ea typeface="字魂36号-正文宋楷" panose="00000500000000000000" pitchFamily="2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383346" y="2000035"/>
            <a:ext cx="4787265" cy="946183"/>
            <a:chOff x="7594243" y="2110563"/>
            <a:chExt cx="3560948" cy="946183"/>
          </a:xfrm>
        </p:grpSpPr>
        <p:sp>
          <p:nvSpPr>
            <p:cNvPr id="31" name="矩形 30"/>
            <p:cNvSpPr/>
            <p:nvPr/>
          </p:nvSpPr>
          <p:spPr>
            <a:xfrm>
              <a:off x="7594243" y="2148810"/>
              <a:ext cx="3531870" cy="907936"/>
            </a:xfrm>
            <a:prstGeom prst="rect">
              <a:avLst/>
            </a:prstGeom>
            <a:solidFill>
              <a:schemeClr val="bg1">
                <a:lumMod val="75000"/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821437" y="2110563"/>
              <a:ext cx="3333754" cy="922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5400" dirty="0">
                  <a:solidFill>
                    <a:schemeClr val="bg1"/>
                  </a:solidFill>
                  <a:cs typeface="+mn-ea"/>
                  <a:sym typeface="+mn-lt"/>
                </a:rPr>
                <a:t>工作与进展</a:t>
              </a:r>
              <a:endParaRPr lang="zh-CN" altLang="en-US" sz="5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5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4464902" y="1176819"/>
            <a:ext cx="2262695" cy="1510103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>
            <a:grayscl/>
          </a:blip>
          <a:stretch>
            <a:fillRect/>
          </a:stretch>
        </p:blipFill>
        <p:spPr>
          <a:xfrm>
            <a:off x="7014295" y="1193686"/>
            <a:ext cx="2265592" cy="1510103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 cstate="email">
            <a:grayscl/>
          </a:blip>
          <a:srcRect/>
          <a:stretch>
            <a:fillRect/>
          </a:stretch>
        </p:blipFill>
        <p:spPr>
          <a:xfrm>
            <a:off x="518544" y="454340"/>
            <a:ext cx="3657644" cy="6103205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 cstate="email">
            <a:grayscl/>
          </a:blip>
          <a:stretch>
            <a:fillRect/>
          </a:stretch>
        </p:blipFill>
        <p:spPr>
          <a:xfrm>
            <a:off x="9568601" y="1193686"/>
            <a:ext cx="2265646" cy="1510103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4631635" y="4402131"/>
            <a:ext cx="718284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279887" y="5785337"/>
            <a:ext cx="2076195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0" y="2357437"/>
            <a:ext cx="12191999" cy="21431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2261" y="426112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2261" y="1036007"/>
            <a:ext cx="431505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单击此处内容，内容可以是复制粘贴。需要注意文本大小以及字符类型。单击此处内容，内容可以是复制粘贴。需要注意文本大小以及字符类型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51902" y="560950"/>
            <a:ext cx="9284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Add title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942362" y="327987"/>
            <a:ext cx="647700" cy="647700"/>
            <a:chOff x="6942363" y="327987"/>
            <a:chExt cx="647700" cy="647700"/>
          </a:xfrm>
        </p:grpSpPr>
        <p:sp>
          <p:nvSpPr>
            <p:cNvPr id="7" name="椭圆 6"/>
            <p:cNvSpPr/>
            <p:nvPr/>
          </p:nvSpPr>
          <p:spPr>
            <a:xfrm>
              <a:off x="6942363" y="327987"/>
              <a:ext cx="647700" cy="647700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7094920" y="457410"/>
              <a:ext cx="342585" cy="388854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/>
        </p:nvSpPr>
        <p:spPr>
          <a:xfrm>
            <a:off x="6231877" y="1154283"/>
            <a:ext cx="2068668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Where did the tech-savvy shop appear Where did the Where 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616248" y="327987"/>
            <a:ext cx="647700" cy="647700"/>
            <a:chOff x="9616248" y="327987"/>
            <a:chExt cx="647700" cy="647700"/>
          </a:xfrm>
        </p:grpSpPr>
        <p:sp>
          <p:nvSpPr>
            <p:cNvPr id="8" name="椭圆 7"/>
            <p:cNvSpPr/>
            <p:nvPr/>
          </p:nvSpPr>
          <p:spPr>
            <a:xfrm>
              <a:off x="9616248" y="327987"/>
              <a:ext cx="647700" cy="647700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email"/>
            <a:stretch>
              <a:fillRect/>
            </a:stretch>
          </p:blipFill>
          <p:spPr>
            <a:xfrm>
              <a:off x="9797700" y="470229"/>
              <a:ext cx="284795" cy="376035"/>
            </a:xfrm>
            <a:prstGeom prst="rect">
              <a:avLst/>
            </a:prstGeom>
          </p:spPr>
        </p:pic>
      </p:grpSp>
      <p:sp>
        <p:nvSpPr>
          <p:cNvPr id="16" name="矩形 15"/>
          <p:cNvSpPr/>
          <p:nvPr/>
        </p:nvSpPr>
        <p:spPr>
          <a:xfrm>
            <a:off x="8905763" y="1154283"/>
            <a:ext cx="2068668" cy="102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Where did the tech-savvy shop appear Where did the Where  </a:t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86751" y="4864487"/>
            <a:ext cx="647700" cy="647700"/>
            <a:chOff x="1604202" y="4794147"/>
            <a:chExt cx="647700" cy="647700"/>
          </a:xfrm>
        </p:grpSpPr>
        <p:sp>
          <p:nvSpPr>
            <p:cNvPr id="17" name="椭圆 16"/>
            <p:cNvSpPr/>
            <p:nvPr/>
          </p:nvSpPr>
          <p:spPr>
            <a:xfrm>
              <a:off x="1604202" y="4794147"/>
              <a:ext cx="647700" cy="647700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5" cstate="email"/>
            <a:stretch>
              <a:fillRect/>
            </a:stretch>
          </p:blipFill>
          <p:spPr>
            <a:xfrm>
              <a:off x="1768215" y="4983280"/>
              <a:ext cx="319674" cy="31819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2" name="矩形 21"/>
          <p:cNvSpPr/>
          <p:nvPr/>
        </p:nvSpPr>
        <p:spPr>
          <a:xfrm>
            <a:off x="1896933" y="4835484"/>
            <a:ext cx="8655956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单击此处内容，内容可以是复制粘贴。需要注意文本大小以及字符类型。单击此处内容，内容可以是复制粘贴。需要注意文本大小以及字符类型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941832" y="5868596"/>
            <a:ext cx="647700" cy="647700"/>
            <a:chOff x="1604202" y="5784188"/>
            <a:chExt cx="647700" cy="647700"/>
          </a:xfrm>
        </p:grpSpPr>
        <p:sp>
          <p:nvSpPr>
            <p:cNvPr id="18" name="椭圆 17"/>
            <p:cNvSpPr/>
            <p:nvPr/>
          </p:nvSpPr>
          <p:spPr>
            <a:xfrm>
              <a:off x="1604202" y="5784188"/>
              <a:ext cx="647700" cy="647700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 cstate="email"/>
            <a:stretch>
              <a:fillRect/>
            </a:stretch>
          </p:blipFill>
          <p:spPr>
            <a:xfrm>
              <a:off x="1768215" y="5892296"/>
              <a:ext cx="376392" cy="431484"/>
            </a:xfrm>
            <a:prstGeom prst="rect">
              <a:avLst/>
            </a:prstGeom>
          </p:spPr>
        </p:pic>
      </p:grpSp>
      <p:sp>
        <p:nvSpPr>
          <p:cNvPr id="25" name="矩形 24"/>
          <p:cNvSpPr/>
          <p:nvPr/>
        </p:nvSpPr>
        <p:spPr>
          <a:xfrm>
            <a:off x="2952014" y="5819840"/>
            <a:ext cx="8655956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单击此处内容，内容可以是复制粘贴。需要注意文本大小以及字符类型。单击此处内容，内容可以是复制粘贴。需要注意文本大小以及字符类型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3" grpId="0"/>
      <p:bldP spid="16" grpId="0"/>
      <p:bldP spid="22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0799" y="2644170"/>
            <a:ext cx="118858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600" dirty="0">
                <a:blipFill dpi="0" rotWithShape="1">
                  <a:blip r:embed="rId2"/>
                  <a:srcRect/>
                  <a:tile tx="0" ty="0" sx="100000" sy="100000" flip="none" algn="tl"/>
                </a:blip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cs typeface="+mn-ea"/>
                <a:sym typeface="+mn-lt"/>
              </a:rPr>
              <a:t>S   C   I   E   N    C   E</a:t>
            </a:r>
            <a:endParaRPr lang="zh-CN" altLang="en-US" sz="9600" dirty="0">
              <a:blipFill dpi="0" rotWithShape="1">
                <a:blip r:embed="rId2"/>
                <a:srcRect/>
                <a:tile tx="0" ty="0" sx="100000" sy="100000" flip="none" algn="tl"/>
              </a:blipFill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375814" y="1191117"/>
            <a:ext cx="1223890" cy="1908540"/>
            <a:chOff x="2912012" y="1448972"/>
            <a:chExt cx="1153551" cy="1674057"/>
          </a:xfrm>
        </p:grpSpPr>
        <p:cxnSp>
          <p:nvCxnSpPr>
            <p:cNvPr id="4" name="直接连接符 3"/>
            <p:cNvCxnSpPr/>
            <p:nvPr/>
          </p:nvCxnSpPr>
          <p:spPr>
            <a:xfrm flipV="1">
              <a:off x="2912012" y="1491175"/>
              <a:ext cx="1111348" cy="163185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/>
          </p:nvSpPr>
          <p:spPr>
            <a:xfrm>
              <a:off x="3981157" y="1448972"/>
              <a:ext cx="84406" cy="844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782286" y="1214490"/>
            <a:ext cx="1179114" cy="1908540"/>
            <a:chOff x="6782286" y="1448972"/>
            <a:chExt cx="1153551" cy="1674057"/>
          </a:xfrm>
        </p:grpSpPr>
        <p:cxnSp>
          <p:nvCxnSpPr>
            <p:cNvPr id="7" name="直接连接符 6"/>
            <p:cNvCxnSpPr/>
            <p:nvPr/>
          </p:nvCxnSpPr>
          <p:spPr>
            <a:xfrm flipV="1">
              <a:off x="6782286" y="1491175"/>
              <a:ext cx="1111348" cy="163185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/>
            <p:cNvSpPr/>
            <p:nvPr/>
          </p:nvSpPr>
          <p:spPr>
            <a:xfrm>
              <a:off x="7851431" y="1448972"/>
              <a:ext cx="84406" cy="844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779899" y="4213830"/>
            <a:ext cx="1140851" cy="1666766"/>
            <a:chOff x="8408424" y="4061151"/>
            <a:chExt cx="1140851" cy="1666766"/>
          </a:xfrm>
        </p:grpSpPr>
        <p:cxnSp>
          <p:nvCxnSpPr>
            <p:cNvPr id="8" name="直接连接符 7"/>
            <p:cNvCxnSpPr/>
            <p:nvPr/>
          </p:nvCxnSpPr>
          <p:spPr>
            <a:xfrm flipV="1">
              <a:off x="8437927" y="4061151"/>
              <a:ext cx="1111348" cy="163185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8408424" y="5643511"/>
              <a:ext cx="84406" cy="844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012024" y="4162522"/>
            <a:ext cx="1159901" cy="1702619"/>
            <a:chOff x="4788388" y="4061151"/>
            <a:chExt cx="1159901" cy="1702619"/>
          </a:xfrm>
        </p:grpSpPr>
        <p:cxnSp>
          <p:nvCxnSpPr>
            <p:cNvPr id="6" name="直接连接符 5"/>
            <p:cNvCxnSpPr/>
            <p:nvPr/>
          </p:nvCxnSpPr>
          <p:spPr>
            <a:xfrm flipV="1">
              <a:off x="4836941" y="4061151"/>
              <a:ext cx="1111348" cy="1631854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/>
            <p:cNvSpPr/>
            <p:nvPr/>
          </p:nvSpPr>
          <p:spPr>
            <a:xfrm>
              <a:off x="4788388" y="5679364"/>
              <a:ext cx="84406" cy="844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228615" y="1428535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64749" y="1938464"/>
            <a:ext cx="3476519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55850" y="4372284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00298" y="4908382"/>
            <a:ext cx="3217752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27468" y="1413520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771916" y="1949618"/>
            <a:ext cx="3217752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68822" y="4383438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113270" y="4919536"/>
            <a:ext cx="3217752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31635" y="662609"/>
            <a:ext cx="2928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 内 容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685925" y="1871663"/>
            <a:ext cx="2028825" cy="2028825"/>
          </a:xfrm>
          <a:prstGeom prst="ellipse">
            <a:avLst/>
          </a:prstGeom>
          <a:blipFill>
            <a:blip r:embed="rId2" cstate="email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081582" y="4036915"/>
            <a:ext cx="2028825" cy="2028825"/>
          </a:xfrm>
          <a:prstGeom prst="ellipse">
            <a:avLst/>
          </a:prstGeom>
          <a:blipFill>
            <a:blip r:embed="rId3" cstate="email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8477249" y="1871662"/>
            <a:ext cx="2028825" cy="2028825"/>
          </a:xfrm>
          <a:prstGeom prst="ellipse">
            <a:avLst/>
          </a:prstGeom>
          <a:blipFill>
            <a:blip r:embed="rId4" cstate="email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12562" y="1570744"/>
            <a:ext cx="2775549" cy="4659484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08225" y="1570744"/>
            <a:ext cx="2775549" cy="4659484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03889" y="1570744"/>
            <a:ext cx="2775549" cy="4659484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58426" y="4228270"/>
            <a:ext cx="228381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54086" y="2048986"/>
            <a:ext cx="228381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49755" y="4214240"/>
            <a:ext cx="228381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28328" y="828374"/>
            <a:ext cx="9284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Add title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267" y="144378"/>
            <a:ext cx="1440159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rgbClr val="01091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rgbClr val="01091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rgbClr val="01091E"/>
                </a:solidFill>
                <a:effectLst/>
                <a:uLnTx/>
                <a:uFillTx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rgbClr val="01091E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rgbClr val="01091E"/>
              </a:solidFill>
              <a:effectLst/>
              <a:uLnTx/>
              <a:uFillTx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菱形 7"/>
          <p:cNvSpPr/>
          <p:nvPr/>
        </p:nvSpPr>
        <p:spPr>
          <a:xfrm>
            <a:off x="4339772" y="1672771"/>
            <a:ext cx="3512456" cy="3512457"/>
          </a:xfrm>
          <a:prstGeom prst="diamond">
            <a:avLst/>
          </a:prstGeom>
          <a:blipFill>
            <a:blip r:embed="rId2" cstate="email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325258" y="1672770"/>
            <a:ext cx="1756228" cy="1756228"/>
            <a:chOff x="4339772" y="1672772"/>
            <a:chExt cx="1756228" cy="1756228"/>
          </a:xfrm>
        </p:grpSpPr>
        <p:sp>
          <p:nvSpPr>
            <p:cNvPr id="5" name="直角三角形 4"/>
            <p:cNvSpPr/>
            <p:nvPr/>
          </p:nvSpPr>
          <p:spPr>
            <a:xfrm rot="5400000">
              <a:off x="4339772" y="1672772"/>
              <a:ext cx="1756228" cy="1756228"/>
            </a:xfrm>
            <a:prstGeom prst="rtTriangle">
              <a:avLst/>
            </a:prstGeom>
            <a:solidFill>
              <a:srgbClr val="154A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557486" y="1926770"/>
              <a:ext cx="478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填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125028" y="1672770"/>
            <a:ext cx="1756228" cy="1756228"/>
            <a:chOff x="6096000" y="1672772"/>
            <a:chExt cx="1756228" cy="1756228"/>
          </a:xfrm>
        </p:grpSpPr>
        <p:sp>
          <p:nvSpPr>
            <p:cNvPr id="6" name="直角三角形 5"/>
            <p:cNvSpPr/>
            <p:nvPr/>
          </p:nvSpPr>
          <p:spPr>
            <a:xfrm rot="10800000">
              <a:off x="6096000" y="1672772"/>
              <a:ext cx="1756228" cy="1756228"/>
            </a:xfrm>
            <a:prstGeom prst="rtTriangle">
              <a:avLst/>
            </a:prstGeom>
            <a:solidFill>
              <a:srgbClr val="154A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155543" y="1926769"/>
              <a:ext cx="478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加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325258" y="3429000"/>
            <a:ext cx="1756228" cy="1756228"/>
            <a:chOff x="4339772" y="3429000"/>
            <a:chExt cx="1756228" cy="1756228"/>
          </a:xfrm>
        </p:grpSpPr>
        <p:sp>
          <p:nvSpPr>
            <p:cNvPr id="4" name="直角三角形 3"/>
            <p:cNvSpPr/>
            <p:nvPr/>
          </p:nvSpPr>
          <p:spPr>
            <a:xfrm>
              <a:off x="4339772" y="3429000"/>
              <a:ext cx="1756228" cy="1756228"/>
            </a:xfrm>
            <a:prstGeom prst="rtTriangle">
              <a:avLst/>
            </a:prstGeom>
            <a:solidFill>
              <a:srgbClr val="154A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557486" y="4307113"/>
              <a:ext cx="478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标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125028" y="3429000"/>
            <a:ext cx="1756228" cy="1756228"/>
            <a:chOff x="6096000" y="3429000"/>
            <a:chExt cx="1756228" cy="1756228"/>
          </a:xfrm>
        </p:grpSpPr>
        <p:sp>
          <p:nvSpPr>
            <p:cNvPr id="7" name="直角三角形 6"/>
            <p:cNvSpPr/>
            <p:nvPr/>
          </p:nvSpPr>
          <p:spPr>
            <a:xfrm rot="16200000">
              <a:off x="6096000" y="3429000"/>
              <a:ext cx="1756228" cy="1756228"/>
            </a:xfrm>
            <a:prstGeom prst="rtTriangle">
              <a:avLst/>
            </a:prstGeom>
            <a:solidFill>
              <a:srgbClr val="154A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155543" y="4307113"/>
              <a:ext cx="4789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题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7" name="图文框 16"/>
          <p:cNvSpPr/>
          <p:nvPr/>
        </p:nvSpPr>
        <p:spPr>
          <a:xfrm>
            <a:off x="3036277" y="393895"/>
            <a:ext cx="6119446" cy="6049107"/>
          </a:xfrm>
          <a:prstGeom prst="frame">
            <a:avLst>
              <a:gd name="adj1" fmla="val 21133"/>
            </a:avLst>
          </a:prstGeom>
          <a:noFill/>
          <a:ln>
            <a:solidFill>
              <a:schemeClr val="bg1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424716" y="725435"/>
            <a:ext cx="5400623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424716" y="5449378"/>
            <a:ext cx="5400623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09004" y="1982613"/>
            <a:ext cx="1154162" cy="39640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128834" y="1982613"/>
            <a:ext cx="1154162" cy="39640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909004" y="1191990"/>
            <a:ext cx="1017199" cy="519219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10270040" y="911304"/>
            <a:ext cx="761221" cy="9023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  <p:bldP spid="18" grpId="0"/>
      <p:bldP spid="19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093864" y="551714"/>
            <a:ext cx="4004272" cy="789104"/>
            <a:chOff x="4093864" y="706462"/>
            <a:chExt cx="4004272" cy="789104"/>
          </a:xfrm>
        </p:grpSpPr>
        <p:sp>
          <p:nvSpPr>
            <p:cNvPr id="2" name="文本框 1"/>
            <p:cNvSpPr txBox="1"/>
            <p:nvPr/>
          </p:nvSpPr>
          <p:spPr>
            <a:xfrm>
              <a:off x="4631635" y="1033901"/>
              <a:ext cx="2928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添 加 标 题 内 容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093864" y="706462"/>
              <a:ext cx="4004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S  U  S  I  F  R  T  K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1194408" y="3739625"/>
            <a:ext cx="2656432" cy="175914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538106" y="3429000"/>
            <a:ext cx="2637541" cy="175898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4461004" y="4159397"/>
            <a:ext cx="3466938" cy="231106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1" name="文本框 10"/>
          <p:cNvSpPr txBox="1"/>
          <p:nvPr/>
        </p:nvSpPr>
        <p:spPr>
          <a:xfrm>
            <a:off x="2504577" y="1816413"/>
            <a:ext cx="718284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093864" y="551714"/>
            <a:ext cx="4004272" cy="789104"/>
            <a:chOff x="4093864" y="706462"/>
            <a:chExt cx="4004272" cy="789104"/>
          </a:xfrm>
        </p:grpSpPr>
        <p:sp>
          <p:nvSpPr>
            <p:cNvPr id="3" name="文本框 2"/>
            <p:cNvSpPr txBox="1"/>
            <p:nvPr/>
          </p:nvSpPr>
          <p:spPr>
            <a:xfrm>
              <a:off x="4631635" y="1033901"/>
              <a:ext cx="2928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添 加 标 题 内 容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093864" y="706462"/>
              <a:ext cx="4004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S  U  S  I  F  R  T  K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23791" y="1547447"/>
            <a:ext cx="3419877" cy="3153761"/>
            <a:chOff x="4823791" y="1547447"/>
            <a:chExt cx="3419877" cy="3153761"/>
          </a:xfrm>
        </p:grpSpPr>
        <p:sp>
          <p:nvSpPr>
            <p:cNvPr id="5" name="圆: 空心 4"/>
            <p:cNvSpPr/>
            <p:nvPr/>
          </p:nvSpPr>
          <p:spPr>
            <a:xfrm>
              <a:off x="4823791" y="2156791"/>
              <a:ext cx="2544417" cy="2544417"/>
            </a:xfrm>
            <a:prstGeom prst="donut">
              <a:avLst>
                <a:gd name="adj" fmla="val 12599"/>
              </a:avLst>
            </a:prstGeom>
            <a:pattFill prst="wave">
              <a:fgClr>
                <a:schemeClr val="bg1">
                  <a:lumMod val="95000"/>
                </a:schemeClr>
              </a:fgClr>
              <a:bgClr>
                <a:srgbClr val="154A4B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 useBgFill="1">
          <p:nvSpPr>
            <p:cNvPr id="6" name="直角三角形 5"/>
            <p:cNvSpPr/>
            <p:nvPr/>
          </p:nvSpPr>
          <p:spPr>
            <a:xfrm>
              <a:off x="6095999" y="1547447"/>
              <a:ext cx="2147669" cy="201168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06682" y="3075056"/>
            <a:ext cx="1378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cs typeface="+mn-ea"/>
                <a:sym typeface="+mn-lt"/>
              </a:rPr>
              <a:t>85%</a:t>
            </a:r>
            <a:endParaRPr lang="zh-CN" altLang="en-US" sz="4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箭头: V 形 8"/>
          <p:cNvSpPr/>
          <p:nvPr/>
        </p:nvSpPr>
        <p:spPr>
          <a:xfrm>
            <a:off x="3340872" y="3186964"/>
            <a:ext cx="253219" cy="484071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0" name="箭头: V 形 9"/>
          <p:cNvSpPr/>
          <p:nvPr/>
        </p:nvSpPr>
        <p:spPr>
          <a:xfrm>
            <a:off x="3651992" y="3186964"/>
            <a:ext cx="253219" cy="484071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" name="箭头: V 形 10"/>
          <p:cNvSpPr/>
          <p:nvPr/>
        </p:nvSpPr>
        <p:spPr>
          <a:xfrm>
            <a:off x="3948331" y="3186964"/>
            <a:ext cx="253219" cy="484071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2" name="箭头: V 形 11"/>
          <p:cNvSpPr/>
          <p:nvPr/>
        </p:nvSpPr>
        <p:spPr>
          <a:xfrm>
            <a:off x="7990449" y="3186963"/>
            <a:ext cx="253219" cy="484071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" name="箭头: V 形 12"/>
          <p:cNvSpPr/>
          <p:nvPr/>
        </p:nvSpPr>
        <p:spPr>
          <a:xfrm>
            <a:off x="8301569" y="3186963"/>
            <a:ext cx="253219" cy="484071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4" name="箭头: V 形 13"/>
          <p:cNvSpPr/>
          <p:nvPr/>
        </p:nvSpPr>
        <p:spPr>
          <a:xfrm>
            <a:off x="8597908" y="3186963"/>
            <a:ext cx="253219" cy="484071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925309" y="2969173"/>
            <a:ext cx="919651" cy="919651"/>
            <a:chOff x="1925309" y="2969173"/>
            <a:chExt cx="919651" cy="919651"/>
          </a:xfrm>
        </p:grpSpPr>
        <p:sp>
          <p:nvSpPr>
            <p:cNvPr id="15" name="椭圆 14"/>
            <p:cNvSpPr/>
            <p:nvPr/>
          </p:nvSpPr>
          <p:spPr>
            <a:xfrm>
              <a:off x="1925309" y="2969173"/>
              <a:ext cx="919651" cy="919651"/>
            </a:xfrm>
            <a:prstGeom prst="ellipse">
              <a:avLst/>
            </a:prstGeom>
            <a:solidFill>
              <a:srgbClr val="538B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 cstate="email"/>
            <a:stretch>
              <a:fillRect/>
            </a:stretch>
          </p:blipFill>
          <p:spPr>
            <a:xfrm>
              <a:off x="2127639" y="3125689"/>
              <a:ext cx="514991" cy="606619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9347039" y="2969173"/>
            <a:ext cx="875460" cy="875460"/>
            <a:chOff x="9347039" y="2969173"/>
            <a:chExt cx="875460" cy="875460"/>
          </a:xfrm>
        </p:grpSpPr>
        <p:sp>
          <p:nvSpPr>
            <p:cNvPr id="18" name="椭圆 17"/>
            <p:cNvSpPr/>
            <p:nvPr/>
          </p:nvSpPr>
          <p:spPr>
            <a:xfrm>
              <a:off x="9347039" y="2969173"/>
              <a:ext cx="875460" cy="875460"/>
            </a:xfrm>
            <a:prstGeom prst="ellipse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9567775" y="3166917"/>
              <a:ext cx="433989" cy="479972"/>
            </a:xfrm>
            <a:prstGeom prst="rect">
              <a:avLst/>
            </a:prstGeom>
          </p:spPr>
        </p:pic>
      </p:grpSp>
      <p:sp>
        <p:nvSpPr>
          <p:cNvPr id="21" name="文本框 20"/>
          <p:cNvSpPr txBox="1"/>
          <p:nvPr/>
        </p:nvSpPr>
        <p:spPr>
          <a:xfrm>
            <a:off x="2159734" y="5137523"/>
            <a:ext cx="787253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" y="4914900"/>
            <a:ext cx="12191999" cy="19431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093864" y="532664"/>
            <a:ext cx="4004272" cy="789104"/>
            <a:chOff x="4093864" y="706462"/>
            <a:chExt cx="4004272" cy="789104"/>
          </a:xfrm>
        </p:grpSpPr>
        <p:sp>
          <p:nvSpPr>
            <p:cNvPr id="8" name="文本框 7"/>
            <p:cNvSpPr txBox="1"/>
            <p:nvPr/>
          </p:nvSpPr>
          <p:spPr>
            <a:xfrm>
              <a:off x="4631635" y="1033901"/>
              <a:ext cx="2928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添 加 标 题 内 容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093864" y="706462"/>
              <a:ext cx="4004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S  U  S  I  F  R  T  K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138629" y="1943100"/>
            <a:ext cx="1013247" cy="3512518"/>
            <a:chOff x="967179" y="1943100"/>
            <a:chExt cx="1013247" cy="3512518"/>
          </a:xfrm>
        </p:grpSpPr>
        <p:sp>
          <p:nvSpPr>
            <p:cNvPr id="10" name="矩形 9"/>
            <p:cNvSpPr/>
            <p:nvPr/>
          </p:nvSpPr>
          <p:spPr>
            <a:xfrm>
              <a:off x="967179" y="1943100"/>
              <a:ext cx="1013247" cy="3512518"/>
            </a:xfrm>
            <a:prstGeom prst="rect">
              <a:avLst/>
            </a:prstGeom>
            <a:solidFill>
              <a:srgbClr val="154A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196803" y="2289659"/>
              <a:ext cx="553998" cy="28194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标题内容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525105" y="3710163"/>
            <a:ext cx="9293665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25105" y="2442131"/>
            <a:ext cx="9293665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031246" y="3234529"/>
            <a:ext cx="10129507" cy="3251542"/>
            <a:chOff x="1031246" y="3193142"/>
            <a:chExt cx="10129507" cy="329292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2" cstate="email"/>
            <a:srcRect/>
            <a:stretch>
              <a:fillRect/>
            </a:stretch>
          </p:blipFill>
          <p:spPr>
            <a:xfrm>
              <a:off x="1031246" y="3193142"/>
              <a:ext cx="10129507" cy="3292929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1031246" y="3193142"/>
              <a:ext cx="10129507" cy="3292929"/>
            </a:xfrm>
            <a:prstGeom prst="rect">
              <a:avLst/>
            </a:pr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1045760" y="1799771"/>
            <a:ext cx="2945668" cy="3658507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23" name="组合 22"/>
          <p:cNvGrpSpPr/>
          <p:nvPr/>
        </p:nvGrpSpPr>
        <p:grpSpPr>
          <a:xfrm>
            <a:off x="1031245" y="5458277"/>
            <a:ext cx="3063230" cy="1027794"/>
            <a:chOff x="1031245" y="5458277"/>
            <a:chExt cx="3063230" cy="1027794"/>
          </a:xfrm>
        </p:grpSpPr>
        <p:sp>
          <p:nvSpPr>
            <p:cNvPr id="8" name="矩形 7"/>
            <p:cNvSpPr/>
            <p:nvPr/>
          </p:nvSpPr>
          <p:spPr>
            <a:xfrm>
              <a:off x="1031245" y="5458277"/>
              <a:ext cx="2960183" cy="10277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230421" y="5637605"/>
              <a:ext cx="2864054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Technological</a:t>
              </a:r>
              <a:endPara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093864" y="532664"/>
            <a:ext cx="4004272" cy="789104"/>
            <a:chOff x="4093864" y="706462"/>
            <a:chExt cx="4004272" cy="789104"/>
          </a:xfrm>
        </p:grpSpPr>
        <p:sp>
          <p:nvSpPr>
            <p:cNvPr id="13" name="文本框 12"/>
            <p:cNvSpPr txBox="1"/>
            <p:nvPr/>
          </p:nvSpPr>
          <p:spPr>
            <a:xfrm>
              <a:off x="4631635" y="1033901"/>
              <a:ext cx="2928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添 加 标 题 内 容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093864" y="706462"/>
              <a:ext cx="4004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S  U  S  I  F  R  T  K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9489598" y="3234529"/>
            <a:ext cx="1175657" cy="3251542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00149" y="4494224"/>
            <a:ext cx="27879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4400" dirty="0">
                <a:solidFill>
                  <a:srgbClr val="154A4B"/>
                </a:solidFill>
                <a:cs typeface="+mn-ea"/>
                <a:sym typeface="+mn-lt"/>
              </a:rPr>
              <a:t>SUSIFRTK</a:t>
            </a:r>
            <a:endParaRPr lang="zh-CN" altLang="en-US" sz="4400" dirty="0">
              <a:solidFill>
                <a:srgbClr val="154A4B"/>
              </a:solidFill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480193" y="2206736"/>
            <a:ext cx="1175657" cy="1027793"/>
            <a:chOff x="9489597" y="2165349"/>
            <a:chExt cx="1175657" cy="1027793"/>
          </a:xfrm>
        </p:grpSpPr>
        <p:sp>
          <p:nvSpPr>
            <p:cNvPr id="16" name="矩形 15"/>
            <p:cNvSpPr/>
            <p:nvPr/>
          </p:nvSpPr>
          <p:spPr>
            <a:xfrm>
              <a:off x="9489597" y="2165349"/>
              <a:ext cx="1175657" cy="10277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4" cstate="email"/>
            <a:stretch>
              <a:fillRect/>
            </a:stretch>
          </p:blipFill>
          <p:spPr>
            <a:xfrm>
              <a:off x="9798768" y="2385972"/>
              <a:ext cx="589283" cy="586547"/>
            </a:xfrm>
            <a:prstGeom prst="rect">
              <a:avLst/>
            </a:prstGeom>
          </p:spPr>
        </p:pic>
      </p:grpSp>
      <p:sp>
        <p:nvSpPr>
          <p:cNvPr id="20" name="矩形 19"/>
          <p:cNvSpPr/>
          <p:nvPr/>
        </p:nvSpPr>
        <p:spPr>
          <a:xfrm>
            <a:off x="8641939" y="5244130"/>
            <a:ext cx="16474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3200" dirty="0">
                <a:solidFill>
                  <a:srgbClr val="154A4B"/>
                </a:solidFill>
                <a:cs typeface="+mn-ea"/>
                <a:sym typeface="+mn-lt"/>
              </a:rPr>
              <a:t>SENES</a:t>
            </a:r>
            <a:endParaRPr lang="zh-CN" altLang="en-US" sz="3200" dirty="0">
              <a:solidFill>
                <a:srgbClr val="154A4B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16870" y="2012123"/>
            <a:ext cx="4592913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.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20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044350" y="0"/>
            <a:ext cx="103301" cy="6858000"/>
          </a:xfrm>
          <a:prstGeom prst="rect">
            <a:avLst/>
          </a:prstGeom>
          <a:pattFill prst="zigZag">
            <a:fgClr>
              <a:schemeClr val="bg1">
                <a:lumMod val="75000"/>
              </a:schemeClr>
            </a:fgClr>
            <a:bgClr>
              <a:srgbClr val="154A4B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 rot="10800000">
            <a:off x="858863" y="602342"/>
            <a:ext cx="5185486" cy="159657"/>
            <a:chOff x="6147651" y="602342"/>
            <a:chExt cx="5185486" cy="159657"/>
          </a:xfrm>
        </p:grpSpPr>
        <p:cxnSp>
          <p:nvCxnSpPr>
            <p:cNvPr id="9" name="直接连接符 8"/>
            <p:cNvCxnSpPr/>
            <p:nvPr/>
          </p:nvCxnSpPr>
          <p:spPr>
            <a:xfrm rot="10800000" flipH="1">
              <a:off x="6147651" y="682171"/>
              <a:ext cx="5073678" cy="0"/>
            </a:xfrm>
            <a:prstGeom prst="line">
              <a:avLst/>
            </a:prstGeom>
            <a:ln>
              <a:solidFill>
                <a:schemeClr val="bg1">
                  <a:alpha val="9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/>
            <p:cNvSpPr/>
            <p:nvPr/>
          </p:nvSpPr>
          <p:spPr>
            <a:xfrm>
              <a:off x="11173480" y="602342"/>
              <a:ext cx="159657" cy="1596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451069" y="3648726"/>
            <a:ext cx="2593280" cy="139686"/>
            <a:chOff x="3451069" y="3648726"/>
            <a:chExt cx="2593280" cy="139686"/>
          </a:xfrm>
        </p:grpSpPr>
        <p:cxnSp>
          <p:nvCxnSpPr>
            <p:cNvPr id="14" name="直接连接符 13"/>
            <p:cNvCxnSpPr/>
            <p:nvPr/>
          </p:nvCxnSpPr>
          <p:spPr>
            <a:xfrm flipH="1">
              <a:off x="3554369" y="3718569"/>
              <a:ext cx="24899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>
            <a:xfrm>
              <a:off x="3451069" y="3648726"/>
              <a:ext cx="139686" cy="13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147651" y="3648726"/>
            <a:ext cx="2593281" cy="139686"/>
            <a:chOff x="6147651" y="3297026"/>
            <a:chExt cx="2593281" cy="139686"/>
          </a:xfrm>
        </p:grpSpPr>
        <p:cxnSp>
          <p:nvCxnSpPr>
            <p:cNvPr id="12" name="直接连接符 11"/>
            <p:cNvCxnSpPr/>
            <p:nvPr/>
          </p:nvCxnSpPr>
          <p:spPr>
            <a:xfrm flipH="1">
              <a:off x="6147651" y="3366869"/>
              <a:ext cx="24899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8601246" y="3297026"/>
              <a:ext cx="139686" cy="13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147651" y="602341"/>
            <a:ext cx="5185486" cy="159657"/>
            <a:chOff x="6147651" y="602342"/>
            <a:chExt cx="5185486" cy="159657"/>
          </a:xfrm>
        </p:grpSpPr>
        <p:cxnSp>
          <p:nvCxnSpPr>
            <p:cNvPr id="20" name="直接连接符 19"/>
            <p:cNvCxnSpPr/>
            <p:nvPr/>
          </p:nvCxnSpPr>
          <p:spPr>
            <a:xfrm rot="10800000" flipH="1">
              <a:off x="6147651" y="682171"/>
              <a:ext cx="5073678" cy="0"/>
            </a:xfrm>
            <a:prstGeom prst="line">
              <a:avLst/>
            </a:prstGeom>
            <a:ln>
              <a:solidFill>
                <a:schemeClr val="bg1">
                  <a:alpha val="9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11173480" y="602342"/>
              <a:ext cx="159657" cy="1596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938691" y="3788412"/>
            <a:ext cx="1816378" cy="251847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6286278" y="936819"/>
            <a:ext cx="1816378" cy="252710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4095549" y="906209"/>
            <a:ext cx="1810174" cy="251847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5" cstate="email"/>
          <a:srcRect t="-398"/>
          <a:stretch>
            <a:fillRect/>
          </a:stretch>
        </p:blipFill>
        <p:spPr>
          <a:xfrm>
            <a:off x="9436932" y="3788412"/>
            <a:ext cx="1816378" cy="251847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2" name="文本框 31"/>
          <p:cNvSpPr txBox="1"/>
          <p:nvPr/>
        </p:nvSpPr>
        <p:spPr>
          <a:xfrm>
            <a:off x="564809" y="1294032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4809" y="1825540"/>
            <a:ext cx="3219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单击此处内容，内容可以是复制粘贴。需要注意文本大小以及字符类型。单击此处内容，内容可以是复制粘贴。需要注意文本大小以及字符类型。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264991" y="1364340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407791" y="1895848"/>
            <a:ext cx="3219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单击此处内容，内容可以是复制粘贴。需要注意文本大小以及字符类型。单击此处内容，内容可以是复制粘贴。需要注意文本大小以及字符类型。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218609" y="426058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380467" y="4792095"/>
            <a:ext cx="20384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449333" y="426058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611191" y="4792095"/>
            <a:ext cx="20384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0042916">
            <a:off x="-1767862" y="2412666"/>
            <a:ext cx="5820228" cy="3988536"/>
          </a:xfrm>
          <a:prstGeom prst="rect">
            <a:avLst/>
          </a:prstGeom>
          <a:solidFill>
            <a:srgbClr val="154A4B"/>
          </a:solidFill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 rot="20042916">
            <a:off x="-1157815" y="2817620"/>
            <a:ext cx="4600135" cy="3178629"/>
          </a:xfrm>
          <a:prstGeom prst="rect">
            <a:avLst/>
          </a:prstGeom>
          <a:solidFill>
            <a:srgbClr val="538B88"/>
          </a:solidFill>
          <a:ln>
            <a:noFill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93864" y="532664"/>
            <a:ext cx="4004272" cy="789104"/>
            <a:chOff x="4093864" y="706462"/>
            <a:chExt cx="4004272" cy="789104"/>
          </a:xfrm>
        </p:grpSpPr>
        <p:sp>
          <p:nvSpPr>
            <p:cNvPr id="3" name="文本框 2"/>
            <p:cNvSpPr txBox="1"/>
            <p:nvPr/>
          </p:nvSpPr>
          <p:spPr>
            <a:xfrm>
              <a:off x="4631635" y="1033901"/>
              <a:ext cx="2928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添 加 标 题 内 容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093864" y="706462"/>
              <a:ext cx="4004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S  U  S  I  F  R  T  K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 rot="20042916">
            <a:off x="-707608" y="3173694"/>
            <a:ext cx="3699720" cy="2466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chemeClr val="bg1">
                <a:alpha val="70000"/>
              </a:schemeClr>
            </a:outerShdw>
          </a:effectLst>
        </p:spPr>
      </p:pic>
      <p:sp>
        <p:nvSpPr>
          <p:cNvPr id="10" name="文本框 9"/>
          <p:cNvSpPr txBox="1"/>
          <p:nvPr/>
        </p:nvSpPr>
        <p:spPr>
          <a:xfrm>
            <a:off x="4747747" y="2144193"/>
            <a:ext cx="718284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47747" y="3685963"/>
            <a:ext cx="718284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47746" y="5227733"/>
            <a:ext cx="718284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095226" y="3458028"/>
            <a:ext cx="6618515" cy="0"/>
          </a:xfrm>
          <a:prstGeom prst="line">
            <a:avLst/>
          </a:prstGeom>
          <a:ln>
            <a:solidFill>
              <a:schemeClr val="bg1"/>
            </a:solidFill>
            <a:prstDash val="dashDot"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5095226" y="5018314"/>
            <a:ext cx="6618515" cy="0"/>
          </a:xfrm>
          <a:prstGeom prst="line">
            <a:avLst/>
          </a:prstGeom>
          <a:ln>
            <a:solidFill>
              <a:schemeClr val="bg1"/>
            </a:solidFill>
            <a:prstDash val="dashDot"/>
          </a:ln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10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093864" y="600123"/>
            <a:ext cx="4004272" cy="789104"/>
            <a:chOff x="4093864" y="706462"/>
            <a:chExt cx="4004272" cy="789104"/>
          </a:xfrm>
        </p:grpSpPr>
        <p:sp>
          <p:nvSpPr>
            <p:cNvPr id="3" name="文本框 2"/>
            <p:cNvSpPr txBox="1"/>
            <p:nvPr/>
          </p:nvSpPr>
          <p:spPr>
            <a:xfrm>
              <a:off x="4631635" y="1033901"/>
              <a:ext cx="2928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添 加 标 题 内 容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093864" y="706462"/>
              <a:ext cx="4004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S  U  S  I  F  R  T  K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348514" y="3018971"/>
            <a:ext cx="1494971" cy="1494971"/>
            <a:chOff x="5348514" y="3018971"/>
            <a:chExt cx="1494971" cy="1494971"/>
          </a:xfrm>
        </p:grpSpPr>
        <p:sp>
          <p:nvSpPr>
            <p:cNvPr id="5" name="椭圆 4"/>
            <p:cNvSpPr/>
            <p:nvPr/>
          </p:nvSpPr>
          <p:spPr>
            <a:xfrm>
              <a:off x="5348514" y="3018971"/>
              <a:ext cx="1494971" cy="1494971"/>
            </a:xfrm>
            <a:prstGeom prst="ellipse">
              <a:avLst/>
            </a:prstGeom>
            <a:solidFill>
              <a:srgbClr val="154A4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email"/>
            <a:stretch>
              <a:fillRect/>
            </a:stretch>
          </p:blipFill>
          <p:spPr>
            <a:xfrm>
              <a:off x="5718614" y="3268168"/>
              <a:ext cx="754769" cy="996576"/>
            </a:xfrm>
            <a:prstGeom prst="rect">
              <a:avLst/>
            </a:prstGeom>
          </p:spPr>
        </p:pic>
      </p:grpSp>
      <p:grpSp>
        <p:nvGrpSpPr>
          <p:cNvPr id="45" name="组合 44"/>
          <p:cNvGrpSpPr/>
          <p:nvPr/>
        </p:nvGrpSpPr>
        <p:grpSpPr>
          <a:xfrm>
            <a:off x="2989943" y="1626209"/>
            <a:ext cx="2577504" cy="1611695"/>
            <a:chOff x="2989943" y="1626209"/>
            <a:chExt cx="2577504" cy="1611695"/>
          </a:xfrm>
        </p:grpSpPr>
        <p:cxnSp>
          <p:nvCxnSpPr>
            <p:cNvPr id="17" name="直接连接符 16"/>
            <p:cNvCxnSpPr>
              <a:stCxn id="5" idx="1"/>
            </p:cNvCxnSpPr>
            <p:nvPr/>
          </p:nvCxnSpPr>
          <p:spPr>
            <a:xfrm flipH="1" flipV="1">
              <a:off x="3773714" y="2279836"/>
              <a:ext cx="1793733" cy="958068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2989943" y="1626209"/>
              <a:ext cx="856343" cy="8563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532967" y="4513941"/>
            <a:ext cx="563033" cy="994838"/>
            <a:chOff x="5532967" y="4513941"/>
            <a:chExt cx="563033" cy="994838"/>
          </a:xfrm>
        </p:grpSpPr>
        <p:cxnSp>
          <p:nvCxnSpPr>
            <p:cNvPr id="15" name="直接连接符 14"/>
            <p:cNvCxnSpPr/>
            <p:nvPr/>
          </p:nvCxnSpPr>
          <p:spPr>
            <a:xfrm flipH="1">
              <a:off x="5921829" y="4513941"/>
              <a:ext cx="174171" cy="528553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/>
            <p:nvPr/>
          </p:nvSpPr>
          <p:spPr>
            <a:xfrm>
              <a:off x="5532967" y="4948760"/>
              <a:ext cx="560019" cy="560019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491019" y="4295008"/>
            <a:ext cx="2076428" cy="1674268"/>
            <a:chOff x="3491019" y="4295008"/>
            <a:chExt cx="2076428" cy="1674268"/>
          </a:xfrm>
        </p:grpSpPr>
        <p:cxnSp>
          <p:nvCxnSpPr>
            <p:cNvPr id="21" name="直接连接符 20"/>
            <p:cNvCxnSpPr/>
            <p:nvPr/>
          </p:nvCxnSpPr>
          <p:spPr>
            <a:xfrm flipH="1">
              <a:off x="4093864" y="4295008"/>
              <a:ext cx="1473583" cy="1075277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3491019" y="5163733"/>
              <a:ext cx="805543" cy="8055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624552" y="4295008"/>
            <a:ext cx="770704" cy="1430087"/>
            <a:chOff x="6624552" y="4295008"/>
            <a:chExt cx="770704" cy="143008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624552" y="4295008"/>
              <a:ext cx="690648" cy="130750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7150091" y="5479930"/>
              <a:ext cx="245165" cy="245165"/>
            </a:xfrm>
            <a:prstGeom prst="ellipse">
              <a:avLst/>
            </a:prstGeom>
            <a:solidFill>
              <a:srgbClr val="154A4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3740317" y="3766456"/>
            <a:ext cx="1608197" cy="709823"/>
            <a:chOff x="3740317" y="3766456"/>
            <a:chExt cx="1608197" cy="709823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4223657" y="3766456"/>
              <a:ext cx="1124857" cy="373742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组合 29"/>
            <p:cNvGrpSpPr/>
            <p:nvPr/>
          </p:nvGrpSpPr>
          <p:grpSpPr>
            <a:xfrm>
              <a:off x="3740317" y="3915665"/>
              <a:ext cx="560614" cy="560614"/>
              <a:chOff x="3740317" y="3915665"/>
              <a:chExt cx="560614" cy="560614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3740317" y="3915665"/>
                <a:ext cx="560614" cy="560614"/>
              </a:xfrm>
              <a:prstGeom prst="ellipse">
                <a:avLst/>
              </a:prstGeom>
              <a:solidFill>
                <a:srgbClr val="154A4B"/>
              </a:solidFill>
              <a:ln>
                <a:noFill/>
              </a:ln>
              <a:effectLst>
                <a:outerShdw blurRad="63500" sx="102000" sy="102000" algn="ctr" rotWithShape="0">
                  <a:schemeClr val="bg1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pic>
            <p:nvPicPr>
              <p:cNvPr id="29" name="图片 28"/>
              <p:cNvPicPr>
                <a:picLocks noChangeAspect="1"/>
              </p:cNvPicPr>
              <p:nvPr/>
            </p:nvPicPr>
            <p:blipFill>
              <a:blip r:embed="rId3" cstate="email"/>
              <a:stretch>
                <a:fillRect/>
              </a:stretch>
            </p:blipFill>
            <p:spPr>
              <a:xfrm>
                <a:off x="3854280" y="4011884"/>
                <a:ext cx="324453" cy="381664"/>
              </a:xfrm>
              <a:prstGeom prst="rect">
                <a:avLst/>
              </a:prstGeom>
            </p:spPr>
          </p:pic>
        </p:grpSp>
      </p:grpSp>
      <p:grpSp>
        <p:nvGrpSpPr>
          <p:cNvPr id="46" name="组合 45"/>
          <p:cNvGrpSpPr/>
          <p:nvPr/>
        </p:nvGrpSpPr>
        <p:grpSpPr>
          <a:xfrm>
            <a:off x="6624552" y="2308184"/>
            <a:ext cx="1290105" cy="929719"/>
            <a:chOff x="6624552" y="2308184"/>
            <a:chExt cx="1290105" cy="929719"/>
          </a:xfrm>
        </p:grpSpPr>
        <p:cxnSp>
          <p:nvCxnSpPr>
            <p:cNvPr id="9" name="直接连接符 8"/>
            <p:cNvCxnSpPr/>
            <p:nvPr/>
          </p:nvCxnSpPr>
          <p:spPr>
            <a:xfrm flipV="1">
              <a:off x="6624552" y="2627085"/>
              <a:ext cx="821277" cy="610818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/>
            <p:cNvSpPr/>
            <p:nvPr/>
          </p:nvSpPr>
          <p:spPr>
            <a:xfrm>
              <a:off x="7376886" y="2308184"/>
              <a:ext cx="537771" cy="53777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843485" y="3766456"/>
            <a:ext cx="1747752" cy="1233172"/>
            <a:chOff x="6843485" y="3766456"/>
            <a:chExt cx="1747752" cy="1233172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6843485" y="3766456"/>
              <a:ext cx="1008744" cy="747485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outerShdw blurRad="63500" sx="102000" sy="102000" algn="ctr" rotWithShape="0">
                <a:schemeClr val="bg1"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组合 31"/>
            <p:cNvGrpSpPr/>
            <p:nvPr/>
          </p:nvGrpSpPr>
          <p:grpSpPr>
            <a:xfrm>
              <a:off x="7843752" y="4252143"/>
              <a:ext cx="747485" cy="747485"/>
              <a:chOff x="7843752" y="4252143"/>
              <a:chExt cx="747485" cy="747485"/>
            </a:xfrm>
          </p:grpSpPr>
          <p:sp>
            <p:nvSpPr>
              <p:cNvPr id="23" name="圆: 空心 22"/>
              <p:cNvSpPr/>
              <p:nvPr/>
            </p:nvSpPr>
            <p:spPr>
              <a:xfrm>
                <a:off x="7843752" y="4252143"/>
                <a:ext cx="747485" cy="747485"/>
              </a:xfrm>
              <a:prstGeom prst="donut">
                <a:avLst>
                  <a:gd name="adj" fmla="val 15291"/>
                </a:avLst>
              </a:prstGeom>
              <a:solidFill>
                <a:srgbClr val="154A4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4" cstate="email"/>
              <a:stretch>
                <a:fillRect/>
              </a:stretch>
            </p:blipFill>
            <p:spPr>
              <a:xfrm>
                <a:off x="8098135" y="4472328"/>
                <a:ext cx="304952" cy="305889"/>
              </a:xfrm>
              <a:prstGeom prst="rect">
                <a:avLst/>
              </a:prstGeom>
            </p:spPr>
          </p:pic>
        </p:grpSp>
      </p:grpSp>
      <p:sp>
        <p:nvSpPr>
          <p:cNvPr id="33" name="文本框 32"/>
          <p:cNvSpPr txBox="1"/>
          <p:nvPr/>
        </p:nvSpPr>
        <p:spPr>
          <a:xfrm>
            <a:off x="483468" y="1645155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74005" y="2140249"/>
            <a:ext cx="2571663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207525" y="3577417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98062" y="4072511"/>
            <a:ext cx="2571663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87027" y="5047466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77564" y="5542560"/>
            <a:ext cx="2571663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058220" y="1987458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058220" y="2482552"/>
            <a:ext cx="2571663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571475" y="4694613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添 加 标 题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571475" y="5189707"/>
            <a:ext cx="2571663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93364" y="2164508"/>
            <a:ext cx="3517619" cy="3501259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093864" y="600123"/>
            <a:ext cx="4004272" cy="789104"/>
            <a:chOff x="4093864" y="706462"/>
            <a:chExt cx="4004272" cy="789104"/>
          </a:xfrm>
        </p:grpSpPr>
        <p:sp>
          <p:nvSpPr>
            <p:cNvPr id="9" name="文本框 8"/>
            <p:cNvSpPr txBox="1"/>
            <p:nvPr/>
          </p:nvSpPr>
          <p:spPr>
            <a:xfrm>
              <a:off x="4631635" y="1033901"/>
              <a:ext cx="29287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添 加 标 题 内 容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093864" y="706462"/>
              <a:ext cx="4004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S  U  S  I  F  R  T  K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1" name="箭头: 右 10"/>
          <p:cNvSpPr/>
          <p:nvPr/>
        </p:nvSpPr>
        <p:spPr>
          <a:xfrm>
            <a:off x="4065728" y="3852631"/>
            <a:ext cx="7483847" cy="62507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42000">
                <a:schemeClr val="bg1">
                  <a:lumMod val="75000"/>
                </a:schemeClr>
              </a:gs>
              <a:gs pos="73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84485" y="2427700"/>
            <a:ext cx="718284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084485" y="4485299"/>
            <a:ext cx="718284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单击此处内容，内容可以是复制粘贴。需要注意文本大小以及字符类型。单击此处内容，内容可以是复制粘贴。单击此处内容，内容可以是复制粘贴。需要注意文本大小以及字符类型。单击此处内容，内容可以是复制粘贴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4397586" y="-705635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-93793" y="82190"/>
            <a:ext cx="6879771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387066" y="978358"/>
            <a:ext cx="1607541" cy="3412885"/>
          </a:xfrm>
          <a:prstGeom prst="rect">
            <a:avLst/>
          </a:prstGeom>
          <a:noFill/>
          <a:ln w="47625">
            <a:solidFill>
              <a:schemeClr val="bg1"/>
            </a:solidFill>
          </a:ln>
          <a:effectLst>
            <a:outerShdw blurRad="88900" sx="104000" sy="104000" algn="ctr" rotWithShape="0">
              <a:schemeClr val="bg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 useBgFill="1">
        <p:nvSpPr>
          <p:cNvPr id="8" name="文本框 7"/>
          <p:cNvSpPr txBox="1"/>
          <p:nvPr/>
        </p:nvSpPr>
        <p:spPr>
          <a:xfrm>
            <a:off x="7955266" y="1120790"/>
            <a:ext cx="863600" cy="144655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>
                <a:solidFill>
                  <a:schemeClr val="bg1"/>
                </a:solidFill>
                <a:cs typeface="+mn-ea"/>
                <a:sym typeface="+mn-lt"/>
              </a:rPr>
              <a:t>谢</a:t>
            </a:r>
            <a:endParaRPr lang="zh-CN" altLang="en-US" sz="8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 useBgFill="1">
        <p:nvSpPr>
          <p:cNvPr id="2" name="文本框 1"/>
          <p:cNvSpPr txBox="1"/>
          <p:nvPr/>
        </p:nvSpPr>
        <p:spPr>
          <a:xfrm>
            <a:off x="9668852" y="1669137"/>
            <a:ext cx="651510" cy="1015663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cs typeface="+mn-ea"/>
                <a:sym typeface="+mn-lt"/>
              </a:rPr>
              <a:t>谢</a:t>
            </a:r>
            <a:endParaRPr lang="zh-CN" altLang="en-US" sz="6000" dirty="0">
              <a:ln>
                <a:solidFill>
                  <a:schemeClr val="bg1"/>
                </a:solidFill>
              </a:ln>
              <a:solidFill>
                <a:schemeClr val="bg1"/>
              </a:solidFill>
              <a:cs typeface="+mn-ea"/>
              <a:sym typeface="+mn-lt"/>
            </a:endParaRPr>
          </a:p>
        </p:txBody>
      </p:sp>
      <p:sp useBgFill="1">
        <p:nvSpPr>
          <p:cNvPr id="4" name="文本框 3"/>
          <p:cNvSpPr txBox="1"/>
          <p:nvPr/>
        </p:nvSpPr>
        <p:spPr>
          <a:xfrm>
            <a:off x="8052505" y="3003359"/>
            <a:ext cx="708841" cy="1015663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字魂44号-空心雅黑" panose="00000500000000000000" pitchFamily="2" charset="-122"/>
                <a:ea typeface="字魂44号-空心雅黑" panose="00000500000000000000" pitchFamily="2" charset="-122"/>
              </a:defRPr>
            </a:lvl1pPr>
          </a:lstStyle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观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 useBgFill="1">
        <p:nvSpPr>
          <p:cNvPr id="7" name="文本框 6"/>
          <p:cNvSpPr txBox="1"/>
          <p:nvPr/>
        </p:nvSpPr>
        <p:spPr>
          <a:xfrm>
            <a:off x="9331667" y="2864009"/>
            <a:ext cx="1325880" cy="144655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solidFill>
                  <a:srgbClr val="00C2B9"/>
                </a:solidFill>
                <a:cs typeface="+mn-ea"/>
                <a:sym typeface="+mn-lt"/>
              </a:rPr>
              <a:t>看</a:t>
            </a:r>
            <a:endParaRPr lang="zh-CN" altLang="en-US" sz="8800" dirty="0">
              <a:solidFill>
                <a:srgbClr val="00C2B9"/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54242" y="4790194"/>
            <a:ext cx="4273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A technically savvy presentation is important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879771" y="5547925"/>
            <a:ext cx="1962211" cy="395781"/>
            <a:chOff x="7107492" y="5679177"/>
            <a:chExt cx="1962211" cy="395781"/>
          </a:xfrm>
        </p:grpSpPr>
        <p:sp>
          <p:nvSpPr>
            <p:cNvPr id="10" name="矩形: 圆角 9"/>
            <p:cNvSpPr/>
            <p:nvPr/>
          </p:nvSpPr>
          <p:spPr>
            <a:xfrm>
              <a:off x="7216077" y="5679177"/>
              <a:ext cx="1745041" cy="376511"/>
            </a:xfrm>
            <a:prstGeom prst="round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107492" y="5705626"/>
              <a:ext cx="19622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优品</a:t>
              </a:r>
              <a:r>
                <a:rPr lang="en-US" altLang="zh-CN" dirty="0" smtClean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512481" y="5549022"/>
            <a:ext cx="1962211" cy="395781"/>
            <a:chOff x="7107492" y="5679177"/>
            <a:chExt cx="1962211" cy="395781"/>
          </a:xfrm>
        </p:grpSpPr>
        <p:sp>
          <p:nvSpPr>
            <p:cNvPr id="14" name="矩形: 圆角 13"/>
            <p:cNvSpPr/>
            <p:nvPr/>
          </p:nvSpPr>
          <p:spPr>
            <a:xfrm>
              <a:off x="7216077" y="5679177"/>
              <a:ext cx="1745041" cy="376511"/>
            </a:xfrm>
            <a:prstGeom prst="round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107492" y="5705626"/>
              <a:ext cx="19622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schemeClr val="bg1"/>
                  </a:solidFill>
                  <a:cs typeface="+mn-ea"/>
                  <a:sym typeface="+mn-lt"/>
                </a:rPr>
                <a:t>20XX</a:t>
              </a:r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年</a:t>
              </a:r>
              <a:r>
                <a:rPr lang="en-US" altLang="zh-CN" dirty="0">
                  <a:solidFill>
                    <a:schemeClr val="bg1"/>
                  </a:solidFill>
                  <a:cs typeface="+mn-ea"/>
                  <a:sym typeface="+mn-lt"/>
                </a:rPr>
                <a:t>XX</a:t>
              </a:r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月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 useBgFill="1">
        <p:nvSpPr>
          <p:cNvPr id="16" name="椭圆 15"/>
          <p:cNvSpPr/>
          <p:nvPr/>
        </p:nvSpPr>
        <p:spPr>
          <a:xfrm>
            <a:off x="9680678" y="797085"/>
            <a:ext cx="501992" cy="501992"/>
          </a:xfrm>
          <a:prstGeom prst="ellipse">
            <a:avLst/>
          </a:prstGeom>
          <a:ln w="28575">
            <a:solidFill>
              <a:schemeClr val="bg1"/>
            </a:solidFill>
          </a:ln>
          <a:effectLst>
            <a:outerShdw blurRad="101600" sx="104000" sy="104000" algn="ctr" rotWithShape="0">
              <a:schemeClr val="bg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 useBgFill="1">
        <p:nvSpPr>
          <p:cNvPr id="17" name="椭圆 16"/>
          <p:cNvSpPr/>
          <p:nvPr/>
        </p:nvSpPr>
        <p:spPr>
          <a:xfrm>
            <a:off x="8231886" y="4212623"/>
            <a:ext cx="310360" cy="310360"/>
          </a:xfrm>
          <a:prstGeom prst="ellipse">
            <a:avLst/>
          </a:prstGeom>
          <a:ln w="28575">
            <a:solidFill>
              <a:schemeClr val="bg1"/>
            </a:solidFill>
          </a:ln>
          <a:effectLst>
            <a:outerShdw blurRad="101600" sx="104000" sy="104000" algn="ctr" rotWithShape="0">
              <a:schemeClr val="bg1"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57547" y="163600"/>
            <a:ext cx="1204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 smtClean="0">
                <a:solidFill>
                  <a:schemeClr val="bg1"/>
                </a:solidFill>
                <a:cs typeface="+mn-ea"/>
                <a:sym typeface="+mn-lt"/>
              </a:rPr>
              <a:t>20XX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1569700" y="494832"/>
            <a:ext cx="1778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-93793" y="7133791"/>
            <a:ext cx="12192002" cy="6857999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2" grpId="0" animBg="1"/>
      <p:bldP spid="4" grpId="0" animBg="1"/>
      <p:bldP spid="7" grpId="0" animBg="1"/>
      <p:bldP spid="9" grpId="0"/>
      <p:bldP spid="16" grpId="0" animBg="1"/>
      <p:bldP spid="17" grpId="0" animBg="1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2949865"/>
            <a:ext cx="12191999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en-US" altLang="zh-CN" sz="28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Meiryo" panose="020B0604030504040204" pitchFamily="34" charset="-128"/>
              </a:rPr>
              <a:t>                                             www.ypppt.com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182092"/>
            <a:ext cx="12191999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>
              <a:defRPr/>
            </a:pPr>
            <a:r>
              <a:rPr lang="zh-CN" altLang="en-US" sz="2800" spc="2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               更多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精品</a:t>
            </a:r>
            <a:r>
              <a:rPr lang="en-US" altLang="zh-CN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资源尽在</a:t>
            </a:r>
            <a:r>
              <a:rPr lang="en-US" altLang="zh-CN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优品</a:t>
            </a:r>
            <a:r>
              <a:rPr lang="en-US" altLang="zh-CN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！</a:t>
            </a:r>
            <a:endParaRPr lang="zh-CN" altLang="en-US" sz="2800" spc="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模板下载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www.ypppt.com/moban/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        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节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模板：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2"/>
              </a:rPr>
              <a:t>www.ypppt.com/jieri/</a:t>
            </a:r>
            <a:endParaRPr lang="en-US" altLang="zh-CN" sz="1200" kern="0" dirty="0">
              <a:solidFill>
                <a:srgbClr val="EEECE1">
                  <a:lumMod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背景图片：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3"/>
              </a:rPr>
              <a:t>www.ypppt.com/beijing/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         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图表下载：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4"/>
              </a:rPr>
              <a:t>www.ypppt.com/tubiao/</a:t>
            </a:r>
            <a:endParaRPr lang="en-US" altLang="zh-CN" sz="1200" kern="0" dirty="0">
              <a:solidFill>
                <a:srgbClr val="EEECE1">
                  <a:lumMod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素材下载：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5"/>
              </a:rPr>
              <a:t>www.ypppt.com/sucai/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           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教程下载：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6"/>
              </a:rPr>
              <a:t>www.ypppt.com/jiaocheng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6"/>
              </a:rPr>
              <a:t>/</a:t>
            </a:r>
            <a:endParaRPr lang="en-US" altLang="zh-CN" sz="1200" kern="0" dirty="0" smtClean="0">
              <a:solidFill>
                <a:srgbClr val="EEECE1">
                  <a:lumMod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400"/>
              </a:lnSpc>
            </a:pPr>
            <a:r>
              <a:rPr lang="zh-CN" altLang="en-US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字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体下载：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7"/>
              </a:rPr>
              <a:t>www.ypppt.com/ziti</a:t>
            </a: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7"/>
              </a:rPr>
              <a:t>/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绘本故事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8"/>
              </a:rPr>
              <a:t>www.ypppt.com/gushi/</a:t>
            </a:r>
            <a:endParaRPr lang="en-US" altLang="zh-CN" sz="1200" kern="0" dirty="0" smtClean="0">
              <a:solidFill>
                <a:srgbClr val="EEECE1">
                  <a:lumMod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400"/>
              </a:lnSpc>
            </a:pP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课件：</a:t>
            </a:r>
            <a:r>
              <a:rPr lang="en-US" altLang="zh-CN" sz="1200" kern="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9"/>
              </a:rPr>
              <a:t>www.ypppt.com/kejian/</a:t>
            </a:r>
            <a:endParaRPr lang="en-US" altLang="zh-CN" sz="1200" kern="0" dirty="0">
              <a:solidFill>
                <a:srgbClr val="EEECE1">
                  <a:lumMod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IMING" val="|0.5|1|1|0.8|0.6|0.5|0.6|0.7|0.7|1.1|0.6"/>
</p:tagLst>
</file>

<file path=ppt/tags/tag2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3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4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5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6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7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8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9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10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11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12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13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14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15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16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17.xml><?xml version="1.0" encoding="utf-8"?>
<p:tagLst xmlns:p="http://schemas.openxmlformats.org/presentationml/2006/main">
  <p:tag name="KSO_WM_DIAGRAM_VIRTUALLY_FRAME" val="{&quot;height&quot;:227.77125984251975,&quot;left&quot;:109.33409448818898,&quot;top&quot;:171.29070866141728,&quot;width&quot;:777.4974015748032}"/>
</p:tagLst>
</file>

<file path=ppt/tags/tag18.xml><?xml version="1.0" encoding="utf-8"?>
<p:tagLst xmlns:p="http://schemas.openxmlformats.org/presentationml/2006/main">
  <p:tag name="TIMING" val="|1.2|0.5|0.6|0.6|0.5|0.5|1|0.5|0.5|0.9|0.5|0.6|1.4|0.8"/>
</p:tagLst>
</file>

<file path=ppt/tags/tag19.xml><?xml version="1.0" encoding="utf-8"?>
<p:tagLst xmlns:p="http://schemas.openxmlformats.org/presentationml/2006/main">
  <p:tag name="TIMING" val="|0.4|0.6|0.7|0.6|0.6"/>
</p:tagLst>
</file>

<file path=ppt/tags/tag20.xml><?xml version="1.0" encoding="utf-8"?>
<p:tagLst xmlns:p="http://schemas.openxmlformats.org/presentationml/2006/main">
  <p:tag name="TIMING" val="|0.5|0.6|1"/>
</p:tagLst>
</file>

<file path=ppt/tags/tag21.xml><?xml version="1.0" encoding="utf-8"?>
<p:tagLst xmlns:p="http://schemas.openxmlformats.org/presentationml/2006/main">
  <p:tag name="TIMING" val="|0.9|0.5|0.5|0.5|0.6"/>
</p:tagLst>
</file>

<file path=ppt/tags/tag22.xml><?xml version="1.0" encoding="utf-8"?>
<p:tagLst xmlns:p="http://schemas.openxmlformats.org/presentationml/2006/main">
  <p:tag name="TIMING" val="|0.1|0.7|0.6|1.6|0.5|1.6|0.6|0.6|1|0.6|0.7"/>
</p:tagLst>
</file>

<file path=ppt/tags/tag23.xml><?xml version="1.0" encoding="utf-8"?>
<p:tagLst xmlns:p="http://schemas.openxmlformats.org/presentationml/2006/main">
  <p:tag name="TIMING" val="|0.4|0.5|0.6|0.5|0.5"/>
</p:tagLst>
</file>

<file path=ppt/tags/tag24.xml><?xml version="1.0" encoding="utf-8"?>
<p:tagLst xmlns:p="http://schemas.openxmlformats.org/presentationml/2006/main">
  <p:tag name="KSO_WM_DIAGRAM_VIRTUALLY_FRAME" val="{&quot;height&quot;:433.5757480314962,&quot;left&quot;:155.33913385826773,&quot;top&quot;:46.15,&quot;width&quot;:550.4890551181102}"/>
</p:tagLst>
</file>

<file path=ppt/tags/tag25.xml><?xml version="1.0" encoding="utf-8"?>
<p:tagLst xmlns:p="http://schemas.openxmlformats.org/presentationml/2006/main">
  <p:tag name="KSO_WM_DIAGRAM_VIRTUALLY_FRAME" val="{&quot;height&quot;:433.5757480314962,&quot;left&quot;:155.33913385826773,&quot;top&quot;:46.15,&quot;width&quot;:550.4890551181102}"/>
</p:tagLst>
</file>

<file path=ppt/tags/tag26.xml><?xml version="1.0" encoding="utf-8"?>
<p:tagLst xmlns:p="http://schemas.openxmlformats.org/presentationml/2006/main">
  <p:tag name="TIMING" val="|0.4|0.4|0.6|0.3|0.3|0.3|0.4|0.3|0.4|0.3|0.3|0.4|0.4|0.2|0.2|0.2|0.2|0.2|0.2|0.2|0.2|0.2|0.2|0.2|0.2|0.2|0.2|0.2"/>
</p:tagLst>
</file>

<file path=ppt/tags/tag27.xml><?xml version="1.0" encoding="utf-8"?>
<p:tagLst xmlns:p="http://schemas.openxmlformats.org/presentationml/2006/main">
  <p:tag name="TIMING" val="|0.6|0.5|0.5|0.5|0.5"/>
</p:tagLst>
</file>

<file path=ppt/tags/tag28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29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30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31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32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33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34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35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36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37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38.xml><?xml version="1.0" encoding="utf-8"?>
<p:tagLst xmlns:p="http://schemas.openxmlformats.org/presentationml/2006/main">
  <p:tag name="KSO_WM_DIAGRAM_VIRTUALLY_FRAME" val="{&quot;height&quot;:418.2801574803149,&quot;left&quot;:-46.41929133858268,&quot;top&quot;:71.3003937007874,&quot;width&quot;:1052.838503937008}"/>
</p:tagLst>
</file>

<file path=ppt/tags/tag39.xml><?xml version="1.0" encoding="utf-8"?>
<p:tagLst xmlns:p="http://schemas.openxmlformats.org/presentationml/2006/main">
  <p:tag name="TIMING" val="|0.6|0.6|0.4|0.6|0.5|0.5|0.5|0.5|0.5|0.4|0.5"/>
</p:tagLst>
</file>

<file path=ppt/tags/tag40.xml><?xml version="1.0" encoding="utf-8"?>
<p:tagLst xmlns:p="http://schemas.openxmlformats.org/presentationml/2006/main">
  <p:tag name="TIMING" val="|0.6|0.5|0.5|0.5|0.5"/>
</p:tagLst>
</file>

<file path=ppt/tags/tag41.xml><?xml version="1.0" encoding="utf-8"?>
<p:tagLst xmlns:p="http://schemas.openxmlformats.org/presentationml/2006/main">
  <p:tag name="TIMING" val="|0.7|0"/>
</p:tagLst>
</file>

<file path=ppt/tags/tag42.xml><?xml version="1.0" encoding="utf-8"?>
<p:tagLst xmlns:p="http://schemas.openxmlformats.org/presentationml/2006/main">
  <p:tag name="TIMING" val="|0.6|0.5|0.5|0.5|0.5"/>
</p:tagLst>
</file>

<file path=ppt/tags/tag43.xml><?xml version="1.0" encoding="utf-8"?>
<p:tagLst xmlns:p="http://schemas.openxmlformats.org/presentationml/2006/main">
  <p:tag name="TIMING" val="|0|0.6|0.5|0.6|0.8|0.6|0.5|0.6|0.6"/>
</p:tagLst>
</file>

<file path=ppt/tags/tag44.xml><?xml version="1.0" encoding="utf-8"?>
<p:tagLst xmlns:p="http://schemas.openxmlformats.org/presentationml/2006/main">
  <p:tag name="TIMING" val="|0.7|0.6|0.7|0.6|0.6|0.6|0.7|1.1|0.6|1.8|0.5"/>
</p:tagLst>
</file>

<file path=ppt/tags/tag45.xml><?xml version="1.0" encoding="utf-8"?>
<p:tagLst xmlns:p="http://schemas.openxmlformats.org/presentationml/2006/main">
  <p:tag name="TIMING" val="|0.2|0.5|0.6|0.6|0.8|0.7"/>
</p:tagLst>
</file>

<file path=ppt/tags/tag46.xml><?xml version="1.0" encoding="utf-8"?>
<p:tagLst xmlns:p="http://schemas.openxmlformats.org/presentationml/2006/main">
  <p:tag name="TIMING" val="|0.1|0.6|0.5|0.5|0.5|0.6|0.5|0.8|0.6"/>
</p:tagLst>
</file>

<file path=ppt/tags/tag47.xml><?xml version="1.0" encoding="utf-8"?>
<p:tagLst xmlns:p="http://schemas.openxmlformats.org/presentationml/2006/main">
  <p:tag name="TIMING" val="|0.9|1.4|0.6|2.1|0.5|0.7|0.5|0.7"/>
</p:tagLst>
</file>

<file path=ppt/tags/tag48.xml><?xml version="1.0" encoding="utf-8"?>
<p:tagLst xmlns:p="http://schemas.openxmlformats.org/presentationml/2006/main">
  <p:tag name="TIMING" val="|2.1|0.6|0.6"/>
</p:tagLst>
</file>

<file path=ppt/tags/tag49.xml><?xml version="1.0" encoding="utf-8"?>
<p:tagLst xmlns:p="http://schemas.openxmlformats.org/presentationml/2006/main">
  <p:tag name="TIMING" val="|0.6|0.7|0.7|0.8|1.9|0.5|0.7|1.1"/>
</p:tagLst>
</file>

<file path=ppt/tags/tag50.xml><?xml version="1.0" encoding="utf-8"?>
<p:tagLst xmlns:p="http://schemas.openxmlformats.org/presentationml/2006/main">
  <p:tag name="TIMING" val="|0.4|0.7|0.6|0.7"/>
</p:tagLst>
</file>

<file path=ppt/tags/tag51.xml><?xml version="1.0" encoding="utf-8"?>
<p:tagLst xmlns:p="http://schemas.openxmlformats.org/presentationml/2006/main">
  <p:tag name="TIMING" val="|1.7|0|0.5|0.5|0.6|0.7"/>
</p:tagLst>
</file>

<file path=ppt/tags/tag52.xml><?xml version="1.0" encoding="utf-8"?>
<p:tagLst xmlns:p="http://schemas.openxmlformats.org/presentationml/2006/main">
  <p:tag name="TIMING" val="|0.6|0.7|0.4|0.4|0.5|0.5|0.5|0.6|0.5"/>
</p:tagLst>
</file>

<file path=ppt/tags/tag53.xml><?xml version="1.0" encoding="utf-8"?>
<p:tagLst xmlns:p="http://schemas.openxmlformats.org/presentationml/2006/main">
  <p:tag name="TIMING" val="|0.5|0.5|0.5|0.6|0.6|0.5|0.5|0.5|0.5"/>
</p:tagLst>
</file>

<file path=ppt/tags/tag54.xml><?xml version="1.0" encoding="utf-8"?>
<p:tagLst xmlns:p="http://schemas.openxmlformats.org/presentationml/2006/main">
  <p:tag name="TIMING" val="|0.1|0.5|0.4|0.5|0.6|0.5|0.6|0.5"/>
</p:tagLst>
</file>

<file path=ppt/tags/tag55.xml><?xml version="1.0" encoding="utf-8"?>
<p:tagLst xmlns:p="http://schemas.openxmlformats.org/presentationml/2006/main">
  <p:tag name="TIMING" val="|0.4|0.4|0.7|0.4"/>
</p:tagLst>
</file>

<file path=ppt/tags/tag56.xml><?xml version="1.0" encoding="utf-8"?>
<p:tagLst xmlns:p="http://schemas.openxmlformats.org/presentationml/2006/main">
  <p:tag name="TIMING" val="|0.5|0.2|0.1|0.2|0.2|0.1|0.2|0.2|0.3|0.3|0.2"/>
</p:tagLst>
</file>

<file path=ppt/tags/tag57.xml><?xml version="1.0" encoding="utf-8"?>
<p:tagLst xmlns:p="http://schemas.openxmlformats.org/presentationml/2006/main">
  <p:tag name="ISPRING_PRESENTATION_TITLE" val="创意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ma4jzbf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3533</Words>
  <Application>WPS 演示</Application>
  <PresentationFormat>宽屏</PresentationFormat>
  <Paragraphs>320</Paragraphs>
  <Slides>28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Arial</vt:lpstr>
      <vt:lpstr>宋体</vt:lpstr>
      <vt:lpstr>Wingdings</vt:lpstr>
      <vt:lpstr>字魂5号-无外润黑体</vt:lpstr>
      <vt:lpstr>黑体</vt:lpstr>
      <vt:lpstr>字魂36号-正文宋楷</vt:lpstr>
      <vt:lpstr>微软雅黑</vt:lpstr>
      <vt:lpstr>Arial Unicode MS</vt:lpstr>
      <vt:lpstr>等线</vt:lpstr>
      <vt:lpstr>字魂44号-空心雅黑</vt:lpstr>
      <vt:lpstr>Meiryo</vt:lpstr>
      <vt:lpstr>Yu Gothic UI</vt:lpstr>
      <vt:lpstr>Arial Narrow</vt:lpstr>
      <vt:lpstr>Calibri</vt:lpstr>
      <vt:lpstr>第一PPT，www.1ppt.com</vt:lpstr>
      <vt:lpstr>自定义设计方案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常浩然</cp:lastModifiedBy>
  <cp:revision>246</cp:revision>
  <dcterms:created xsi:type="dcterms:W3CDTF">2019-07-25T13:21:00Z</dcterms:created>
  <dcterms:modified xsi:type="dcterms:W3CDTF">2026-03-24T15:01:31Z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4F064093B10E4D89905A58B50C4ED025_12</vt:lpwstr>
  </property>
</Properties>
</file>